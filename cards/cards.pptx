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60d1439b9d4510" /><Relationship Type="http://schemas.openxmlformats.org/officeDocument/2006/relationships/extended-properties" Target="/docProps/app.xml" Id="R48d3e3507c114e02" /><Relationship Type="http://schemas.openxmlformats.org/officeDocument/2006/relationships/officeDocument" Target="/ppt/presentation.xml" Id="R1f16792c85a74299" /></Relationships>
</file>

<file path=ppt/presentation.xml><?xml version="1.0" encoding="utf-8"?>
<p:presentation xmlns:p="http://schemas.openxmlformats.org/presentationml/2006/main">
  <p:sldMasterIdLst>
    <p:sldMasterId xmlns:r="http://schemas.openxmlformats.org/officeDocument/2006/relationships" id="2147483648" r:id="Rf18cc8cfbfe5407e"/>
  </p:sldMasterIdLst>
  <p:notesMasterIdLst>
    <p:notesMasterId xmlns:r="http://schemas.openxmlformats.org/officeDocument/2006/relationships" r:id="Rc243bd6d53b04382"/>
  </p:notesMasterIdLst>
  <p:sldIdLst>
    <p:sldId xmlns:r="http://schemas.openxmlformats.org/officeDocument/2006/relationships" id="256" r:id="Rdcc0e8460b1842cf"/>
    <p:sldId xmlns:r="http://schemas.openxmlformats.org/officeDocument/2006/relationships" id="257" r:id="R484ca976329942df"/>
    <p:sldId xmlns:r="http://schemas.openxmlformats.org/officeDocument/2006/relationships" id="258" r:id="Ree6472770daa4c74"/>
    <p:sldId xmlns:r="http://schemas.openxmlformats.org/officeDocument/2006/relationships" id="259" r:id="R66bd65114b914d4f"/>
    <p:sldId xmlns:r="http://schemas.openxmlformats.org/officeDocument/2006/relationships" id="260" r:id="R4ad96856dca64e03"/>
    <p:sldId xmlns:r="http://schemas.openxmlformats.org/officeDocument/2006/relationships" id="261" r:id="R637bf155d6a34d58"/>
    <p:sldId xmlns:r="http://schemas.openxmlformats.org/officeDocument/2006/relationships" id="262" r:id="Recd7b3dbd10947d1"/>
    <p:sldId xmlns:r="http://schemas.openxmlformats.org/officeDocument/2006/relationships" id="263" r:id="R0e100b8c6b0140eb"/>
    <p:sldId xmlns:r="http://schemas.openxmlformats.org/officeDocument/2006/relationships" id="264" r:id="R5af08d5f29044989"/>
    <p:sldId xmlns:r="http://schemas.openxmlformats.org/officeDocument/2006/relationships" id="265" r:id="Rc1e60e034a0549dc"/>
    <p:sldId xmlns:r="http://schemas.openxmlformats.org/officeDocument/2006/relationships" id="266" r:id="R7c79bbf779db4840"/>
    <p:sldId xmlns:r="http://schemas.openxmlformats.org/officeDocument/2006/relationships" id="267" r:id="R2ac84b13ef82424b"/>
    <p:sldId xmlns:r="http://schemas.openxmlformats.org/officeDocument/2006/relationships" id="268" r:id="R2ae183e12a824abc"/>
    <p:sldId xmlns:r="http://schemas.openxmlformats.org/officeDocument/2006/relationships" id="269" r:id="R49155ec667c34901"/>
    <p:sldId xmlns:r="http://schemas.openxmlformats.org/officeDocument/2006/relationships" id="270" r:id="R29de815293b34160"/>
    <p:sldId xmlns:r="http://schemas.openxmlformats.org/officeDocument/2006/relationships" id="271" r:id="R6a005beb17734f35"/>
    <p:sldId xmlns:r="http://schemas.openxmlformats.org/officeDocument/2006/relationships" id="272" r:id="R8e9cd99ca3be4f8e"/>
    <p:sldId xmlns:r="http://schemas.openxmlformats.org/officeDocument/2006/relationships" id="273" r:id="R1006fd3eed13453b"/>
    <p:sldId xmlns:r="http://schemas.openxmlformats.org/officeDocument/2006/relationships" id="274" r:id="R384f203494e8415b"/>
    <p:sldId xmlns:r="http://schemas.openxmlformats.org/officeDocument/2006/relationships" id="275" r:id="R64a4d17514d849f7"/>
    <p:sldId xmlns:r="http://schemas.openxmlformats.org/officeDocument/2006/relationships" id="276" r:id="R494218e305c442af"/>
    <p:sldId xmlns:r="http://schemas.openxmlformats.org/officeDocument/2006/relationships" id="277" r:id="R20d817a81ffa4c76"/>
    <p:sldId xmlns:r="http://schemas.openxmlformats.org/officeDocument/2006/relationships" id="278" r:id="R7e1a16bf56004305"/>
    <p:sldId xmlns:r="http://schemas.openxmlformats.org/officeDocument/2006/relationships" id="279" r:id="R656443f7f7a9495a"/>
    <p:sldId xmlns:r="http://schemas.openxmlformats.org/officeDocument/2006/relationships" id="280" r:id="R65f8f3a20ff94384"/>
    <p:sldId xmlns:r="http://schemas.openxmlformats.org/officeDocument/2006/relationships" id="281" r:id="Rb8683828970b4cca"/>
    <p:sldId xmlns:r="http://schemas.openxmlformats.org/officeDocument/2006/relationships" id="282" r:id="Ra34d77a820ba4570"/>
    <p:sldId xmlns:r="http://schemas.openxmlformats.org/officeDocument/2006/relationships" id="283" r:id="R3f5f6bddcc1642b6"/>
    <p:sldId xmlns:r="http://schemas.openxmlformats.org/officeDocument/2006/relationships" id="284" r:id="R484c0b5b3d2f4939"/>
    <p:sldId xmlns:r="http://schemas.openxmlformats.org/officeDocument/2006/relationships" id="285" r:id="Rbe0ca45813184d42"/>
    <p:sldId xmlns:r="http://schemas.openxmlformats.org/officeDocument/2006/relationships" id="286" r:id="R9f952fa96cb14351"/>
    <p:sldId xmlns:r="http://schemas.openxmlformats.org/officeDocument/2006/relationships" id="287" r:id="Rfc9fd95042dc4a32"/>
    <p:sldId xmlns:r="http://schemas.openxmlformats.org/officeDocument/2006/relationships" id="288" r:id="R51924f2623cc46e0"/>
    <p:sldId xmlns:r="http://schemas.openxmlformats.org/officeDocument/2006/relationships" id="289" r:id="R370260b954cc4552"/>
    <p:sldId xmlns:r="http://schemas.openxmlformats.org/officeDocument/2006/relationships" id="290" r:id="R9aa1d841ff7a4cee"/>
    <p:sldId xmlns:r="http://schemas.openxmlformats.org/officeDocument/2006/relationships" id="291" r:id="R787bef8e18ca4c58"/>
    <p:sldId xmlns:r="http://schemas.openxmlformats.org/officeDocument/2006/relationships" id="292" r:id="Rd6320b273c1b41c4"/>
    <p:sldId xmlns:r="http://schemas.openxmlformats.org/officeDocument/2006/relationships" id="293" r:id="Rb6ac5d9df39c4c8c"/>
    <p:sldId xmlns:r="http://schemas.openxmlformats.org/officeDocument/2006/relationships" id="294" r:id="R43deeaa0010b44aa"/>
    <p:sldId xmlns:r="http://schemas.openxmlformats.org/officeDocument/2006/relationships" id="295" r:id="Rf211d77199b24c3c"/>
    <p:sldId xmlns:r="http://schemas.openxmlformats.org/officeDocument/2006/relationships" id="296" r:id="R4949ba168e5d4bae"/>
    <p:sldId xmlns:r="http://schemas.openxmlformats.org/officeDocument/2006/relationships" id="297" r:id="Rbb27e268e7dd43b1"/>
    <p:sldId xmlns:r="http://schemas.openxmlformats.org/officeDocument/2006/relationships" id="298" r:id="Rc353d865b2284b37"/>
    <p:sldId xmlns:r="http://schemas.openxmlformats.org/officeDocument/2006/relationships" id="299" r:id="Rbf11ed38303b4b50"/>
    <p:sldId xmlns:r="http://schemas.openxmlformats.org/officeDocument/2006/relationships" id="300" r:id="R81754ac11a71473b"/>
    <p:sldId xmlns:r="http://schemas.openxmlformats.org/officeDocument/2006/relationships" id="301" r:id="R176f8d000318401c"/>
    <p:sldId xmlns:r="http://schemas.openxmlformats.org/officeDocument/2006/relationships" id="302" r:id="R413ac434e31141c7"/>
    <p:sldId xmlns:r="http://schemas.openxmlformats.org/officeDocument/2006/relationships" id="303" r:id="Re7fd7f1eb8014d27"/>
  </p:sldIdLst>
  <p:sldSz cx="6400800" cy="457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318350d3834ce6" /><Relationship Type="http://schemas.openxmlformats.org/officeDocument/2006/relationships/slideMaster" Target="/ppt/slideMasters/slideMaster1.xml" Id="Rf18cc8cfbfe5407e" /><Relationship Type="http://schemas.openxmlformats.org/officeDocument/2006/relationships/notesMaster" Target="/ppt/notesMasters/notesMaster1.xml" Id="Rc243bd6d53b04382" /><Relationship Type="http://schemas.openxmlformats.org/officeDocument/2006/relationships/presProps" Target="/ppt/presProps.xml" Id="R50f30dc18e464df9" /><Relationship Type="http://schemas.openxmlformats.org/officeDocument/2006/relationships/tableStyles" Target="/ppt/tableStyles.xml" Id="Rfbb8a839542944c8" /><Relationship Type="http://schemas.openxmlformats.org/officeDocument/2006/relationships/slide" Target="/ppt/slides/slide1.xml" Id="Rdcc0e8460b1842cf" /><Relationship Type="http://schemas.openxmlformats.org/officeDocument/2006/relationships/slide" Target="/ppt/slides/slide2.xml" Id="R484ca976329942df" /><Relationship Type="http://schemas.openxmlformats.org/officeDocument/2006/relationships/slide" Target="/ppt/slides/slide3.xml" Id="Ree6472770daa4c74" /><Relationship Type="http://schemas.openxmlformats.org/officeDocument/2006/relationships/slide" Target="/ppt/slides/slide4.xml" Id="R66bd65114b914d4f" /><Relationship Type="http://schemas.openxmlformats.org/officeDocument/2006/relationships/slide" Target="/ppt/slides/slide5.xml" Id="R4ad96856dca64e03" /><Relationship Type="http://schemas.openxmlformats.org/officeDocument/2006/relationships/slide" Target="/ppt/slides/slide6.xml" Id="R637bf155d6a34d58" /><Relationship Type="http://schemas.openxmlformats.org/officeDocument/2006/relationships/slide" Target="/ppt/slides/slide7.xml" Id="Recd7b3dbd10947d1" /><Relationship Type="http://schemas.openxmlformats.org/officeDocument/2006/relationships/slide" Target="/ppt/slides/slide8.xml" Id="R0e100b8c6b0140eb" /><Relationship Type="http://schemas.openxmlformats.org/officeDocument/2006/relationships/slide" Target="/ppt/slides/slide9.xml" Id="R5af08d5f29044989" /><Relationship Type="http://schemas.openxmlformats.org/officeDocument/2006/relationships/slide" Target="/ppt/slides/slide10.xml" Id="Rc1e60e034a0549dc" /><Relationship Type="http://schemas.openxmlformats.org/officeDocument/2006/relationships/slide" Target="/ppt/slides/slide11.xml" Id="R7c79bbf779db4840" /><Relationship Type="http://schemas.openxmlformats.org/officeDocument/2006/relationships/slide" Target="/ppt/slides/slide12.xml" Id="R2ac84b13ef82424b" /><Relationship Type="http://schemas.openxmlformats.org/officeDocument/2006/relationships/slide" Target="/ppt/slides/slide13.xml" Id="R2ae183e12a824abc" /><Relationship Type="http://schemas.openxmlformats.org/officeDocument/2006/relationships/slide" Target="/ppt/slides/slide14.xml" Id="R49155ec667c34901" /><Relationship Type="http://schemas.openxmlformats.org/officeDocument/2006/relationships/slide" Target="/ppt/slides/slide15.xml" Id="R29de815293b34160" /><Relationship Type="http://schemas.openxmlformats.org/officeDocument/2006/relationships/slide" Target="/ppt/slides/slide16.xml" Id="R6a005beb17734f35" /><Relationship Type="http://schemas.openxmlformats.org/officeDocument/2006/relationships/slide" Target="/ppt/slides/slide17.xml" Id="R8e9cd99ca3be4f8e" /><Relationship Type="http://schemas.openxmlformats.org/officeDocument/2006/relationships/slide" Target="/ppt/slides/slide18.xml" Id="R1006fd3eed13453b" /><Relationship Type="http://schemas.openxmlformats.org/officeDocument/2006/relationships/slide" Target="/ppt/slides/slide19.xml" Id="R384f203494e8415b" /><Relationship Type="http://schemas.openxmlformats.org/officeDocument/2006/relationships/slide" Target="/ppt/slides/slide20.xml" Id="R64a4d17514d849f7" /><Relationship Type="http://schemas.openxmlformats.org/officeDocument/2006/relationships/slide" Target="/ppt/slides/slide21.xml" Id="R494218e305c442af" /><Relationship Type="http://schemas.openxmlformats.org/officeDocument/2006/relationships/slide" Target="/ppt/slides/slide22.xml" Id="R20d817a81ffa4c76" /><Relationship Type="http://schemas.openxmlformats.org/officeDocument/2006/relationships/slide" Target="/ppt/slides/slide23.xml" Id="R7e1a16bf56004305" /><Relationship Type="http://schemas.openxmlformats.org/officeDocument/2006/relationships/slide" Target="/ppt/slides/slide24.xml" Id="R656443f7f7a9495a" /><Relationship Type="http://schemas.openxmlformats.org/officeDocument/2006/relationships/slide" Target="/ppt/slides/slide25.xml" Id="R65f8f3a20ff94384" /><Relationship Type="http://schemas.openxmlformats.org/officeDocument/2006/relationships/slide" Target="/ppt/slides/slide26.xml" Id="Rb8683828970b4cca" /><Relationship Type="http://schemas.openxmlformats.org/officeDocument/2006/relationships/slide" Target="/ppt/slides/slide27.xml" Id="Ra34d77a820ba4570" /><Relationship Type="http://schemas.openxmlformats.org/officeDocument/2006/relationships/slide" Target="/ppt/slides/slide28.xml" Id="R3f5f6bddcc1642b6" /><Relationship Type="http://schemas.openxmlformats.org/officeDocument/2006/relationships/slide" Target="/ppt/slides/slide29.xml" Id="R484c0b5b3d2f4939" /><Relationship Type="http://schemas.openxmlformats.org/officeDocument/2006/relationships/slide" Target="/ppt/slides/slide30.xml" Id="Rbe0ca45813184d42" /><Relationship Type="http://schemas.openxmlformats.org/officeDocument/2006/relationships/slide" Target="/ppt/slides/slide31.xml" Id="R9f952fa96cb14351" /><Relationship Type="http://schemas.openxmlformats.org/officeDocument/2006/relationships/slide" Target="/ppt/slides/slide32.xml" Id="Rfc9fd95042dc4a32" /><Relationship Type="http://schemas.openxmlformats.org/officeDocument/2006/relationships/slide" Target="/ppt/slides/slide33.xml" Id="R51924f2623cc46e0" /><Relationship Type="http://schemas.openxmlformats.org/officeDocument/2006/relationships/slide" Target="/ppt/slides/slide34.xml" Id="R370260b954cc4552" /><Relationship Type="http://schemas.openxmlformats.org/officeDocument/2006/relationships/slide" Target="/ppt/slides/slide35.xml" Id="R9aa1d841ff7a4cee" /><Relationship Type="http://schemas.openxmlformats.org/officeDocument/2006/relationships/slide" Target="/ppt/slides/slide36.xml" Id="R787bef8e18ca4c58" /><Relationship Type="http://schemas.openxmlformats.org/officeDocument/2006/relationships/slide" Target="/ppt/slides/slide37.xml" Id="Rd6320b273c1b41c4" /><Relationship Type="http://schemas.openxmlformats.org/officeDocument/2006/relationships/slide" Target="/ppt/slides/slide38.xml" Id="Rb6ac5d9df39c4c8c" /><Relationship Type="http://schemas.openxmlformats.org/officeDocument/2006/relationships/slide" Target="/ppt/slides/slide39.xml" Id="R43deeaa0010b44aa" /><Relationship Type="http://schemas.openxmlformats.org/officeDocument/2006/relationships/slide" Target="/ppt/slides/slide40.xml" Id="Rf211d77199b24c3c" /><Relationship Type="http://schemas.openxmlformats.org/officeDocument/2006/relationships/slide" Target="/ppt/slides/slide41.xml" Id="R4949ba168e5d4bae" /><Relationship Type="http://schemas.openxmlformats.org/officeDocument/2006/relationships/slide" Target="/ppt/slides/slide42.xml" Id="Rbb27e268e7dd43b1" /><Relationship Type="http://schemas.openxmlformats.org/officeDocument/2006/relationships/slide" Target="/ppt/slides/slide43.xml" Id="Rc353d865b2284b37" /><Relationship Type="http://schemas.openxmlformats.org/officeDocument/2006/relationships/slide" Target="/ppt/slides/slide44.xml" Id="Rbf11ed38303b4b50" /><Relationship Type="http://schemas.openxmlformats.org/officeDocument/2006/relationships/slide" Target="/ppt/slides/slide45.xml" Id="R81754ac11a71473b" /><Relationship Type="http://schemas.openxmlformats.org/officeDocument/2006/relationships/slide" Target="/ppt/slides/slide46.xml" Id="R176f8d000318401c" /><Relationship Type="http://schemas.openxmlformats.org/officeDocument/2006/relationships/slide" Target="/ppt/slides/slide47.xml" Id="R413ac434e31141c7" /><Relationship Type="http://schemas.openxmlformats.org/officeDocument/2006/relationships/slide" Target="/ppt/slides/slide48.xml" Id="Re7fd7f1eb8014d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6cf35fdc234e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b7fc1d6e844040" /><Relationship Type="http://schemas.openxmlformats.org/officeDocument/2006/relationships/notesMaster" Target="/ppt/notesMasters/notesMaster1.xml" Id="R16baed176b3645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28e0cec9074b4c" /><Relationship Type="http://schemas.openxmlformats.org/officeDocument/2006/relationships/notesMaster" Target="/ppt/notesMasters/notesMaster1.xml" Id="R188b2abff26043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cd28c5555c41d5" /><Relationship Type="http://schemas.openxmlformats.org/officeDocument/2006/relationships/notesMaster" Target="/ppt/notesMasters/notesMaster1.xml" Id="R99c5494bf43f4c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a626bba5a3493d" /><Relationship Type="http://schemas.openxmlformats.org/officeDocument/2006/relationships/notesMaster" Target="/ppt/notesMasters/notesMaster1.xml" Id="R5b9269c6c9864e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d4a4975e0a4172" /><Relationship Type="http://schemas.openxmlformats.org/officeDocument/2006/relationships/notesMaster" Target="/ppt/notesMasters/notesMaster1.xml" Id="Rd045d5d0dae941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dd83c3732e4022" /><Relationship Type="http://schemas.openxmlformats.org/officeDocument/2006/relationships/notesMaster" Target="/ppt/notesMasters/notesMaster1.xml" Id="R0b5900c6982742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85976502b04040" /><Relationship Type="http://schemas.openxmlformats.org/officeDocument/2006/relationships/notesMaster" Target="/ppt/notesMasters/notesMaster1.xml" Id="R886f7ca4d7854b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0a639285f7464b" /><Relationship Type="http://schemas.openxmlformats.org/officeDocument/2006/relationships/notesMaster" Target="/ppt/notesMasters/notesMaster1.xml" Id="R466391e142f54b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128519df0f4010" /><Relationship Type="http://schemas.openxmlformats.org/officeDocument/2006/relationships/notesMaster" Target="/ppt/notesMasters/notesMaster1.xml" Id="R9e47724d1dae4a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d69a6a425a4dad" /><Relationship Type="http://schemas.openxmlformats.org/officeDocument/2006/relationships/notesMaster" Target="/ppt/notesMasters/notesMaster1.xml" Id="R07e6eb6d69f045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c16cd58dcb4129" /><Relationship Type="http://schemas.openxmlformats.org/officeDocument/2006/relationships/notesMaster" Target="/ppt/notesMasters/notesMaster1.xml" Id="R95559544cb1645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65c1649ca6489f" /><Relationship Type="http://schemas.openxmlformats.org/officeDocument/2006/relationships/notesMaster" Target="/ppt/notesMasters/notesMaster1.xml" Id="Rd6bcd1eb14ef48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3156b8a5164182" /><Relationship Type="http://schemas.openxmlformats.org/officeDocument/2006/relationships/notesMaster" Target="/ppt/notesMasters/notesMaster1.xml" Id="R32f597594928448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dd40e087b94f6e" /><Relationship Type="http://schemas.openxmlformats.org/officeDocument/2006/relationships/notesMaster" Target="/ppt/notesMasters/notesMaster1.xml" Id="R38f26bae615b47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15265500a524f87" /><Relationship Type="http://schemas.openxmlformats.org/officeDocument/2006/relationships/notesMaster" Target="/ppt/notesMasters/notesMaster1.xml" Id="R2fb798f2c5da40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91ccfeb87844f2" /><Relationship Type="http://schemas.openxmlformats.org/officeDocument/2006/relationships/notesMaster" Target="/ppt/notesMasters/notesMaster1.xml" Id="Reb0f9c8d73da4e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53dbb1f4ee461e" /><Relationship Type="http://schemas.openxmlformats.org/officeDocument/2006/relationships/notesMaster" Target="/ppt/notesMasters/notesMaster1.xml" Id="R545a43e3dbe14f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d979abe9f204368" /><Relationship Type="http://schemas.openxmlformats.org/officeDocument/2006/relationships/notesMaster" Target="/ppt/notesMasters/notesMaster1.xml" Id="Ref260aadaa0543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6c048a59b54f7d" /><Relationship Type="http://schemas.openxmlformats.org/officeDocument/2006/relationships/notesMaster" Target="/ppt/notesMasters/notesMaster1.xml" Id="Refe1e2f58a354c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0fe5b645f3d4032" /><Relationship Type="http://schemas.openxmlformats.org/officeDocument/2006/relationships/notesMaster" Target="/ppt/notesMasters/notesMaster1.xml" Id="R24496dc782fa4d0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6e118855f64d0e" /><Relationship Type="http://schemas.openxmlformats.org/officeDocument/2006/relationships/notesMaster" Target="/ppt/notesMasters/notesMaster1.xml" Id="R693d622ffd7344b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75631612d94975" /><Relationship Type="http://schemas.openxmlformats.org/officeDocument/2006/relationships/notesMaster" Target="/ppt/notesMasters/notesMaster1.xml" Id="R0736515040c04a5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db6e64340e8458f" /><Relationship Type="http://schemas.openxmlformats.org/officeDocument/2006/relationships/notesMaster" Target="/ppt/notesMasters/notesMaster1.xml" Id="R3ec6e660e0774eb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57a85693330498d" /><Relationship Type="http://schemas.openxmlformats.org/officeDocument/2006/relationships/notesMaster" Target="/ppt/notesMasters/notesMaster1.xml" Id="R0bb1ed646b0f478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8f4556693cc42c9" /><Relationship Type="http://schemas.openxmlformats.org/officeDocument/2006/relationships/notesMaster" Target="/ppt/notesMasters/notesMaster1.xml" Id="R5748c9440af24fc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5b337246c4b4412" /><Relationship Type="http://schemas.openxmlformats.org/officeDocument/2006/relationships/notesMaster" Target="/ppt/notesMasters/notesMaster1.xml" Id="R7a66eb4b053d4e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329153a699741e9" /><Relationship Type="http://schemas.openxmlformats.org/officeDocument/2006/relationships/notesMaster" Target="/ppt/notesMasters/notesMaster1.xml" Id="Rd8e3334e8bfa4e4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42a41390514ac5" /><Relationship Type="http://schemas.openxmlformats.org/officeDocument/2006/relationships/notesMaster" Target="/ppt/notesMasters/notesMaster1.xml" Id="R377a14b82f4d4cc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56071b86fc04269" /><Relationship Type="http://schemas.openxmlformats.org/officeDocument/2006/relationships/notesMaster" Target="/ppt/notesMasters/notesMaster1.xml" Id="R6a692a7a97044e0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3a7dca3e7f14a03" /><Relationship Type="http://schemas.openxmlformats.org/officeDocument/2006/relationships/notesMaster" Target="/ppt/notesMasters/notesMaster1.xml" Id="Rbdba86c04c93415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1c52a061718436e" /><Relationship Type="http://schemas.openxmlformats.org/officeDocument/2006/relationships/notesMaster" Target="/ppt/notesMasters/notesMaster1.xml" Id="Rf6d8960496be44d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244bd02c8074aa0" /><Relationship Type="http://schemas.openxmlformats.org/officeDocument/2006/relationships/notesMaster" Target="/ppt/notesMasters/notesMaster1.xml" Id="R4239c1adfe314fd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e3f1d57ad4c4174" /><Relationship Type="http://schemas.openxmlformats.org/officeDocument/2006/relationships/notesMaster" Target="/ppt/notesMasters/notesMaster1.xml" Id="Rd702f7a27ee24ff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4a245c74c4e4da7" /><Relationship Type="http://schemas.openxmlformats.org/officeDocument/2006/relationships/notesMaster" Target="/ppt/notesMasters/notesMaster1.xml" Id="R281c81a904284cf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17ed526d877489b" /><Relationship Type="http://schemas.openxmlformats.org/officeDocument/2006/relationships/notesMaster" Target="/ppt/notesMasters/notesMaster1.xml" Id="Re2a648ccc1644ae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922f75784b94d7d" /><Relationship Type="http://schemas.openxmlformats.org/officeDocument/2006/relationships/notesMaster" Target="/ppt/notesMasters/notesMaster1.xml" Id="R6e64ac47654b43d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b3d8dd1c9c74098" /><Relationship Type="http://schemas.openxmlformats.org/officeDocument/2006/relationships/notesMaster" Target="/ppt/notesMasters/notesMaster1.xml" Id="R60430604524d4a4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7973b3ac1e04221" /><Relationship Type="http://schemas.openxmlformats.org/officeDocument/2006/relationships/notesMaster" Target="/ppt/notesMasters/notesMaster1.xml" Id="R7964da8acc024ff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ddfb6455da24410" /><Relationship Type="http://schemas.openxmlformats.org/officeDocument/2006/relationships/notesMaster" Target="/ppt/notesMasters/notesMaster1.xml" Id="R3efeed60fe2e47d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99e4c4cc58b4c65" /><Relationship Type="http://schemas.openxmlformats.org/officeDocument/2006/relationships/notesMaster" Target="/ppt/notesMasters/notesMaster1.xml" Id="Rc9a034a5d5d7465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5a9e78d0c494248" /><Relationship Type="http://schemas.openxmlformats.org/officeDocument/2006/relationships/notesMaster" Target="/ppt/notesMasters/notesMaster1.xml" Id="R77ef42df37fc4d5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044f0e375d04d9f" /><Relationship Type="http://schemas.openxmlformats.org/officeDocument/2006/relationships/notesMaster" Target="/ppt/notesMasters/notesMaster1.xml" Id="R54c5453ea31844d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a17ac9d2fa5425c" /><Relationship Type="http://schemas.openxmlformats.org/officeDocument/2006/relationships/notesMaster" Target="/ppt/notesMasters/notesMaster1.xml" Id="R8181da757c5c401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25fd5f134374281" /><Relationship Type="http://schemas.openxmlformats.org/officeDocument/2006/relationships/notesMaster" Target="/ppt/notesMasters/notesMaster1.xml" Id="Rc2ba339f53f04d5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30c3d0a2ad247ae" /><Relationship Type="http://schemas.openxmlformats.org/officeDocument/2006/relationships/notesMaster" Target="/ppt/notesMasters/notesMaster1.xml" Id="Rf148cf69689e42b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21d7991192d4949" /><Relationship Type="http://schemas.openxmlformats.org/officeDocument/2006/relationships/notesMaster" Target="/ppt/notesMasters/notesMaster1.xml" Id="R96369675e3ef469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805e8d6abc349d0" /><Relationship Type="http://schemas.openxmlformats.org/officeDocument/2006/relationships/notesMaster" Target="/ppt/notesMasters/notesMaster1.xml" Id="Rbb44d5011123429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3764fa039f946d5" /><Relationship Type="http://schemas.openxmlformats.org/officeDocument/2006/relationships/notesMaster" Target="/ppt/notesMasters/notesMaster1.xml" Id="Rd44afb5b3fd247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M01. Intended outcome: Accept. Accepted rationale(s): Math/Logic, Stability/Performance.</a:t>
            </a:r>
          </a:p>
          <a:p xmlns:a="http://schemas.openxmlformats.org/drawingml/2006/main">
            <a:r>
              <a:t>Background references for the technical principle:</a:t>
            </a:r>
          </a:p>
          <a:p xmlns:a="http://schemas.openxmlformats.org/drawingml/2006/main">
            <a:r>
              <a:t>https://ee363.stanford.edu/lectures/008_dtsys.pdf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M01 answer. The discrete-time pole has magnitude 0.42 &lt; 1. Therefore 0.42ⁿ approaches zero, and every trajectory approaches the origin. The proof supports the stated claim for the given model.</a:t>
            </a:r>
          </a:p>
          <a:p xmlns:a="http://schemas.openxmlformats.org/drawingml/2006/main">
            <a:r>
              <a:t>Basis for acceptance: The mathematical argument establishes exactly the stability property claimed. Extra robustness tests would address a different claim.</a:t>
            </a:r>
          </a:p>
          <a:p xmlns:a="http://schemas.openxmlformats.org/drawingml/2006/main">
            <a:r>
              <a:t>Background references:</a:t>
            </a:r>
          </a:p>
          <a:p xmlns:a="http://schemas.openxmlformats.org/drawingml/2006/main">
            <a:r>
              <a:t>https://ee363.stanford.edu/lectures/008_dtsys.pdf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M02. Intended outcome: Revise. Accepted rationale(s): Model/Assumptions, Evidence/Validation.</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M02 answer. The simulated model omits a stated feature of the hardware. The results establish performance without delay, but they do not establish unchanged performance with a 120 ms delay. This gap does not by itself prove the controller fails.</a:t>
            </a:r>
          </a:p>
          <a:p xmlns:a="http://schemas.openxmlformats.org/drawingml/2006/main">
            <a:r>
              <a:t>Repair: Include the delay in the model and evaluate it, or remove the hardware-performance claim and retain the supported simulation result.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M03. Intended outcome: Reject. Accepted rationale(s): Math/Logic, Stability/Performance.</a:t>
            </a:r>
          </a:p>
          <a:p xmlns:a="http://schemas.openxmlformats.org/drawingml/2006/main">
            <a:r>
              <a:t>Background references for the technical principle:</a:t>
            </a:r>
          </a:p>
          <a:p xmlns:a="http://schemas.openxmlformats.org/drawingml/2006/main">
            <a:r>
              <a:t>https://ee363.stanford.edu/lectures/008_dtsys.pdf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M03 answer. At g = 3, the pole is −2 and its magnitude exceeds one. The system is unstable for nonzero initial states. In fact, asymptotic stability requires 0 &lt; g &lt; 2. A direct counterexample defeats the proposed rule.</a:t>
            </a:r>
          </a:p>
          <a:p xmlns:a="http://schemas.openxmlformats.org/drawingml/2006/main">
            <a:r>
              <a:t>Fundamental flaw: Replacing the rule with a bounded gain interval changes the paper's sole contribution. More simulations cannot validate the original universal claim.</a:t>
            </a:r>
          </a:p>
          <a:p xmlns:a="http://schemas.openxmlformats.org/drawingml/2006/main">
            <a:r>
              <a:t>Background references:</a:t>
            </a:r>
          </a:p>
          <a:p xmlns:a="http://schemas.openxmlformats.org/drawingml/2006/main">
            <a:r>
              <a:t>https://ee363.stanford.edu/lectures/008_dtsys.pdf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M04. Intended outcome: Accept. Accepted rationale(s): Model/Assumptions.</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M04 answer. The stated direction of the actuator's effect and the controller's response establish negative feedback. The authors correctly limit their claim to the feedback sign. Negative feedback alone does not guarantee stability for arbitrary gains or delays.</a:t>
            </a:r>
          </a:p>
          <a:p xmlns:a="http://schemas.openxmlformats.org/drawingml/2006/main">
            <a:r>
              <a:t>Basis for acceptance: The claim matches the physical model and avoids an unsupported guarantee about stability.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M05. Intended outcome: Revise. Accepted rationale(s): Model/Assumptions, Evidence/Validation.</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M05 answer. Actuator saturation changes the implemented loop, and accumulated integral error can affect recovery. The unlimited-actuator experiment does not support the device claim. The card does not establish that this controller necessarily fails.</a:t>
            </a:r>
          </a:p>
          <a:p xmlns:a="http://schemas.openxmlformats.org/drawingml/2006/main">
            <a:r>
              <a:t>Repair: Test the input limit and address integral accumulation if necessary, or restrict the claim to the simulated unlimited-actuator setting.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M06. Intended outcome: Reject. Accepted rationale(s): Model/Assumptions, Stability/Performance.</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M06 answer. Holding x = 2 requires u = 2, which the actuator cannot produce. More generally, from x(0) = 0 and u ≤ 1, the state cannot approach 2. The guarantee contradicts a physical constraint explicitly included in the model.</a:t>
            </a:r>
          </a:p>
          <a:p xmlns:a="http://schemas.openxmlformats.org/drawingml/2006/main">
            <a:r>
              <a:t>Fundamental flaw: The sole guarantee is impossible under the given actuator limit. Restricting targets or changing the actuator materially replaces that contribution.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M07. Intended outcome: Reject. Accepted rationale(s): Math/Logic, Stability/Performance.</a:t>
            </a:r>
          </a:p>
          <a:p xmlns:a="http://schemas.openxmlformats.org/drawingml/2006/main">
            <a:r>
              <a:t>Background references for the technical principle:</a:t>
            </a:r>
          </a:p>
          <a:p xmlns:a="http://schemas.openxmlformats.org/drawingml/2006/main">
            <a:r>
              <a:t>https://underactuated.mit.edu/acrobot.html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M07 answer. The second state obeys dx₂/dt = x₂ regardless of the feedback gain. Thus x₂(t) = exp(t)x₂(0), and any nonzero initial second state diverges. The unstable mode is uncontrollable, so state feedback cannot stabilize the full system.</a:t>
            </a:r>
          </a:p>
          <a:p xmlns:a="http://schemas.openxmlformats.org/drawingml/2006/main">
            <a:r>
              <a:t>Fundamental flaw: The proposed guarantee is impossible for the stated plant. An extra actuator or a different plant would change the problem and the central result.</a:t>
            </a:r>
          </a:p>
          <a:p xmlns:a="http://schemas.openxmlformats.org/drawingml/2006/main">
            <a:r>
              <a:t>Background references:</a:t>
            </a:r>
          </a:p>
          <a:p xmlns:a="http://schemas.openxmlformats.org/drawingml/2006/main">
            <a:r>
              <a:t>https://underactuated.mit.edu/acrobot.html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M08. Intended outcome: Accept. Accepted rationale(s): Math/Logic.</a:t>
            </a:r>
          </a:p>
          <a:p xmlns:a="http://schemas.openxmlformats.org/drawingml/2006/main">
            <a:r>
              <a:t>Background references for the technical principle:</a:t>
            </a:r>
          </a:p>
          <a:p xmlns:a="http://schemas.openxmlformats.org/drawingml/2006/main">
            <a:r>
              <a:t>https://ee363.stanford.edu/lectures/011_observ.pdf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M08 answer. The observability matrix has rows C and CA: [[1, 0], [1, 1]]. Its determinant is one, so it has full rank. Equivalently, x₁[0] = y[0] and x₂[0] = y[1] − y[0]. The reconstruction claim is correct.</a:t>
            </a:r>
          </a:p>
          <a:p xmlns:a="http://schemas.openxmlformats.org/drawingml/2006/main">
            <a:r>
              <a:t>Basis for acceptance: The argument proves unique state reconstruction under the explicitly stated noiseless assumptions.</a:t>
            </a:r>
          </a:p>
          <a:p xmlns:a="http://schemas.openxmlformats.org/drawingml/2006/main">
            <a:r>
              <a:t>Background references:</a:t>
            </a:r>
          </a:p>
          <a:p xmlns:a="http://schemas.openxmlformats.org/drawingml/2006/main">
            <a:r>
              <a:t>https://ee363.stanford.edu/lectures/011_observ.pdf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M09. Intended outcome: Revise. Accepted rationale(s): Model/Assumptions, Evidence/Validation.</a:t>
            </a:r>
          </a:p>
          <a:p xmlns:a="http://schemas.openxmlformats.org/drawingml/2006/main">
            <a:r>
              <a:t>Background references for the technical principle:</a:t>
            </a:r>
          </a:p>
          <a:p xmlns:a="http://schemas.openxmlformats.org/drawingml/2006/main">
            <a:r>
              <a:t>https://ee363.stanford.edu/lectures/021_kf.pdf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M09 answer. The implemented noise model ignores a stated correlation. Good point estimates alone do not establish calibrated uncertainty. Using the actual covariance can preserve the estimation pipeline while addressing the mismatch.</a:t>
            </a:r>
          </a:p>
          <a:p xmlns:a="http://schemas.openxmlformats.org/drawingml/2006/main">
            <a:r>
              <a:t>Repair: Use the measured full covariance and reassess uncertainty calibration on the trials. Update any performance claims that change.</a:t>
            </a:r>
          </a:p>
          <a:p xmlns:a="http://schemas.openxmlformats.org/drawingml/2006/main">
            <a:r>
              <a:t>Background references:</a:t>
            </a:r>
          </a:p>
          <a:p xmlns:a="http://schemas.openxmlformats.org/drawingml/2006/main">
            <a:r>
              <a:t>https://ee363.stanford.edu/lectures/021_kf.pdf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M10. Intended outcome: Reject. Accepted rationale(s): Math/Logic, Model/Assumptions.</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M10 answer. The average remains x + v, so its error variance is still 1. Copying a measurement does not create independent noise realizations. A variance of 1/2 would require two independent measurements with equal variance, which this setup lacks.</a:t>
            </a:r>
          </a:p>
          <a:p xmlns:a="http://schemas.openxmlformats.org/drawingml/2006/main">
            <a:r>
              <a:t>Fundamental flaw: The sole claimed improvement disappears when the stated dependence is included. Adding an independent sensor would change the proposed method.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M11. Intended outcome: Accept. Accepted rationale(s): Math/Logic, Stability/Performance.</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M11 answer. Adding the equations gives a constant sum. Subtracting them gives d(x₁ − x₂)/dt = −2(x₁ − x₂), so the difference approaches zero. Equal limiting values with sum 8 must both equal 4.</a:t>
            </a:r>
          </a:p>
          <a:p xmlns:a="http://schemas.openxmlformats.org/drawingml/2006/main">
            <a:r>
              <a:t>Basis for acceptance: The argument establishes both agreement and preservation of the average for the stated two-agent model.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M12. Intended outcome: Revise. Accepted rationale(s): Model/Assumptions, Stability/Performance.</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M12 answer. The disconnected pairs converge separately to 1 and 9. The results support agreement within each group, which is the stated study's contribution. They do not support one value shared by all four agents.</a:t>
            </a:r>
          </a:p>
          <a:p xmlns:a="http://schemas.openxmlformats.org/drawingml/2006/main">
            <a:r>
              <a:t>Repair: Limit the conclusion to consensus within connected groups and state the connectivity assumption needed for a team-wide result.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M13. Intended outcome: Reject. Accepted rationale(s): Math/Logic, Stability/Performance.</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M13 answer. This W converges to consensus at a weighted mean: (2/3)x₁[0] + (1/3)x₂[0] = 1. The arithmetic mean is 1.5. Row sums of one do not preserve the sum of states. Here the column sums are 1.5 and 0.5.</a:t>
            </a:r>
          </a:p>
          <a:p xmlns:a="http://schemas.openxmlformats.org/drawingml/2006/main">
            <a:r>
              <a:t>Fundamental flaw: The claimed average-preservation property fails for the explicit example. A different update matrix or a weighted-mean claim replaces the sole contribution.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M14. Intended outcome: Revise. Accepted rationale(s): Evidence/Validation.</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M14 answer. One noisy run per controller cannot establish a general reduction in expected error, especially with different noise realizations. The algorithm remains a usable contribution, and the comparative claim can be evaluated with an appropriate experiment.</a:t>
            </a:r>
          </a:p>
          <a:p xmlns:a="http://schemas.openxmlformats.org/drawingml/2006/main">
            <a:r>
              <a:t>Repair: Run repeated paired comparisons with common conditions and noise realizations, report variability, and align the conclusion with the resulting evidence.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M15. Intended outcome: Accept. Accepted rationale(s): Evidence/Validation.</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M15 answer. The complete paired data and reported medians support the limited descriptive claim about this test set. The paper does not turn that observed comparison into an unsupported universal guarantee or a claim about population means.</a:t>
            </a:r>
          </a:p>
          <a:p xmlns:a="http://schemas.openxmlformats.org/drawingml/2006/main">
            <a:r>
              <a:t>Basis for acceptance: The evidence matches the comparison and the conclusion stays within the evaluated conditions.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M16. Intended outcome: Reject. Accepted rationale(s): Evidence/Validation.</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M16 answer. The stated success rates directly contradict the reliability claim. Comparing times only after discarding eight failures also fails to establish speed across the full benchmark. The problem is contradicted evidence, rather than merely an absent experiment.</a:t>
            </a:r>
          </a:p>
          <a:p xmlns:a="http://schemas.openxmlformats.org/drawingml/2006/main">
            <a:r>
              <a:t>Fundamental flaw: An honest report removes the paper's sole joint-superiority result. Extra wording cannot make the existing success counts support that claim.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M17. Intended outcome: Accept. Accepted rationale(s): Clarity/Reproducibility, Math/Logic.</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M17 answer. Substituting the controller gives x[n+1] = 0.5x[n], which produces the reported sequence. The initial state, update order, noise assumption, and arithmetic convention specify the requested computation completely.</a:t>
            </a:r>
          </a:p>
          <a:p xmlns:a="http://schemas.openxmlformats.org/drawingml/2006/main">
            <a:r>
              <a:t>Basis for acceptance: The reproducibility claim is specific and the card includes the information needed to check it.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M18. Intended outcome: Revise. Accepted rationale(s): Clarity/Reproducibility.</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M18 answer. T changes the numerical controller and the physical timing of the simulation. The supplied information therefore does not specify a unique experiment. A missing implementation parameter can be supplied without replacing the controller study.</a:t>
            </a:r>
          </a:p>
          <a:p xmlns:a="http://schemas.openxmlformats.org/drawingml/2006/main">
            <a:r>
              <a:t>Repair: State the sample period with units, include it in the code, and confirm that it reproduces the reported trajectory.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M19. Intended outcome: Reject. Accepted rationale(s): Scope/Novelty.</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M19 answer. Renaming the integral state leaves the controller unchanged. Under the explicit journal requirement, the paper has no original methodological contribution. The issue is not that the controller must be technically incorrect.</a:t>
            </a:r>
          </a:p>
          <a:p xmlns:a="http://schemas.openxmlformats.org/drawingml/2006/main">
            <a:r>
              <a:t>Fundamental flaw: Meeting the venue's requirement would require a substantive new contribution. Correcting the novelty sentence alone would leave no contribution of the required kind.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M20. Intended outcome: Revise. Accepted rationale(s): Scope/Novelty.</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M20 answer. The abstract overstates the novelty of the controller despite the cited prior law. The experimental study is a separate contribution that fits the stated venue. Correcting the attribution and novelty claim preserves that study.</a:t>
            </a:r>
          </a:p>
          <a:p xmlns:a="http://schemas.openxmlformats.org/drawingml/2006/main">
            <a:r>
              <a:t>Repair: Describe the PI law as existing work and state the new contribution as the pump experiment and its supported comparison.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M21. Intended outcome: Accept. Accepted rationale(s): Scope/Novelty, Clarity/Reproducibility.</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M21 answer. The stated contribution matches the venue's explicit scope. Using established controllers is appropriate for this teaching activity, and the supplied materials support reproduction. The paper accurately limits what it contributes.</a:t>
            </a:r>
          </a:p>
          <a:p xmlns:a="http://schemas.openxmlformats.org/drawingml/2006/main">
            <a:r>
              <a:t>Basis for acceptance: A new theorem is unnecessary for the stated submission type. The activity and materials are the contribution the venue requests.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M22. Intended outcome: Reject. Accepted rationale(s): Math/Logic, Stability/Performance.</a:t>
            </a:r>
          </a:p>
          <a:p xmlns:a="http://schemas.openxmlformats.org/drawingml/2006/main">
            <a:r>
              <a:t>Background references for the technical principle:</a:t>
            </a:r>
          </a:p>
          <a:p xmlns:a="http://schemas.openxmlformats.org/drawingml/2006/main">
            <a:r>
              <a:t>https://underactuated.mit.edu/acrobot.html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M22 answer. The stable linearization supports local behavior near zero, not this global claim. For x &gt; 1, x³ − x &gt; 0, so the trajectory starting at 2 moves away from zero. Also, x = 1 and x = −1 are nonzero equilibria.</a:t>
            </a:r>
          </a:p>
          <a:p xmlns:a="http://schemas.openxmlformats.org/drawingml/2006/main">
            <a:r>
              <a:t>Fundamental flaw: Replacing the sole global result with a local result materially changes the contribution. The original universal claim is directly false.</a:t>
            </a:r>
          </a:p>
          <a:p xmlns:a="http://schemas.openxmlformats.org/drawingml/2006/main">
            <a:r>
              <a:t>Background references:</a:t>
            </a:r>
          </a:p>
          <a:p xmlns:a="http://schemas.openxmlformats.org/drawingml/2006/main">
            <a:r>
              <a:t>https://underactuated.mit.edu/acrobot.html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M23. Intended outcome: Revise. Accepted rationale(s): Math/Logic, Model/Assumptions.</a:t>
            </a:r>
          </a:p>
          <a:p xmlns:a="http://schemas.openxmlformats.org/drawingml/2006/main">
            <a:r>
              <a:t>This example uses a fictional scenario and a direct check of the information on the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M23 answer. The displayed constant-coefficient solution is not the solution for a general schedule. However, the claimed bound is repairable: x(t) = exp(−∫₀ᵗ a(s)ds)x(0), so |x(t)| ≤ exp(−0.5t)|x(0)|. The stated assumptions already suffice.</a:t>
            </a:r>
          </a:p>
          <a:p xmlns:a="http://schemas.openxmlformats.org/drawingml/2006/main">
            <a:r>
              <a:t>Repair: Replace the constant-a argument with the integral solution or a uniform Lyapunov bound. The decay claim and scheduling study can remain.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Manuscript M24. Intended outcome: Accept. Accepted rationale(s): Math/Logic, Stability/Performance.</a:t>
            </a:r>
          </a:p>
          <a:p xmlns:a="http://schemas.openxmlformats.org/drawingml/2006/main">
            <a:r>
              <a:t>Background references for the technical principle:</a:t>
            </a:r>
          </a:p>
          <a:p xmlns:a="http://schemas.openxmlformats.org/drawingml/2006/main">
            <a:r>
              <a:t>https://underactuated.mit.edu/lqr.html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fictional manuscript cards for Revise &amp; Reject. Eight cards each are intended Accept, Revise, and Reject. Eight cards each are Guided, Standard, and Advanced. Slides alternate front and answer back. All visible content, including equations, is editable text. Duplicate a front/back pair to add a card. Keep the manuscript ID identical on both sides. Change the expertise tag or fictional author names to match your reviewer profiles. All scenarios, authors, and trial data are fictional. The intended verdict addresses the explicitly stated claim and contribution at the card level, not a complete real-world journal assessment. The PDF uses two 7 × 5 inch cards per US Letter page, with alternating front/back pages. Print at actual size, double-sided, flip on long edge. Test one sheet before a full run. Shuffle complete front/back cards before play.</a:t>
            </a:r>
          </a:p>
          <a:p xmlns:a="http://schemas.openxmlformats.org/drawingml/2006/main">
            <a:r>
              <a:t/>
            </a:r>
          </a:p>
          <a:p xmlns:a="http://schemas.openxmlformats.org/drawingml/2006/main">
            <a:r>
              <a:t>M24 answer. The scalar Riccati equation is 1 − 2P − P² = 0. Its positive stabilizing solution is √2 − 1, giving the pole −1 − P = −√2. The standard LQR result gives the optimal value Px(0)² for the stated unconstrained problem.</a:t>
            </a:r>
          </a:p>
          <a:p xmlns:a="http://schemas.openxmlformats.org/drawingml/2006/main">
            <a:r>
              <a:t>Basis for acceptance: The gain, Riccati check, closed-loop stability, and cost claim agree under the supplied assumptions.</a:t>
            </a:r>
          </a:p>
          <a:p xmlns:a="http://schemas.openxmlformats.org/drawingml/2006/main">
            <a:r>
              <a:t>Background references:</a:t>
            </a:r>
          </a:p>
          <a:p xmlns:a="http://schemas.openxmlformats.org/drawingml/2006/main">
            <a:r>
              <a:t>https://underactuated.mit.edu/lqr.html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060e47314f4f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2f36f0160c4c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fcb2ffcea249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801770150b547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ffe7247e4844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58596b53154e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80CBC16-1675-433E-9B74-B1E6860E3AED}"/>
              </a:ext>
            </a:extLst>
          </p:cNvPr>
          <p:cNvSpPr>
            <a:spLocks xmlns:a="http://schemas.openxmlformats.org/drawingml/2006/main" noGrp="1"/>
          </p:cNvSpPr>
          <p:nvPr/>
        </p:nvSpPr>
        <p:spPr>
          <a:xfrm xmlns:a="http://schemas.openxmlformats.org/drawingml/2006/main">
            <a:off x="3040380" y="1473200"/>
            <a:ext cx="320040" cy="254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5D020CD-04E6-4CDF-821F-27FD3E5DC913}"/>
              </a:ext>
            </a:extLst>
          </p:cNvPr>
          <p:cNvSpPr>
            <a:spLocks xmlns:a="http://schemas.openxmlformats.org/drawingml/2006/main" noGrp="1"/>
          </p:cNvSpPr>
          <p:nvPr>
            <p:ph type="title" idx="0"/>
          </p:nvPr>
        </p:nvSpPr>
        <p:spPr>
          <a:xfrm xmlns:a="http://schemas.openxmlformats.org/drawingml/2006/main">
            <a:off x="640080" y="1727200"/>
            <a:ext cx="5120640" cy="66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F7BE2FE-7584-4420-8846-A741EB953323}"/>
              </a:ext>
            </a:extLst>
          </p:cNvPr>
          <p:cNvSpPr>
            <a:spLocks xmlns:a="http://schemas.openxmlformats.org/drawingml/2006/main" noGrp="1"/>
          </p:cNvSpPr>
          <p:nvPr>
            <p:ph type="subTitle" idx="1"/>
          </p:nvPr>
        </p:nvSpPr>
        <p:spPr>
          <a:xfrm xmlns:a="http://schemas.openxmlformats.org/drawingml/2006/main">
            <a:off x="960120" y="2514600"/>
            <a:ext cx="4480560" cy="508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9BF1061-A3F9-4AB1-BD23-33D5F9E69CBA}"/>
              </a:ext>
            </a:extLst>
          </p:cNvPr>
          <p:cNvSpPr>
            <a:spLocks xmlns:a="http://schemas.openxmlformats.org/drawingml/2006/main" noGrp="1"/>
          </p:cNvSpPr>
          <p:nvPr/>
        </p:nvSpPr>
        <p:spPr>
          <a:xfrm xmlns:a="http://schemas.openxmlformats.org/drawingml/2006/main">
            <a:off x="3040380" y="1651000"/>
            <a:ext cx="320040" cy="254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ADA278A-7364-4099-B395-39DCA1AAFA4D}"/>
              </a:ext>
            </a:extLst>
          </p:cNvPr>
          <p:cNvSpPr>
            <a:spLocks xmlns:a="http://schemas.openxmlformats.org/drawingml/2006/main" noGrp="1"/>
          </p:cNvSpPr>
          <p:nvPr>
            <p:ph type="title" idx="0"/>
          </p:nvPr>
        </p:nvSpPr>
        <p:spPr>
          <a:xfrm xmlns:a="http://schemas.openxmlformats.org/drawingml/2006/main">
            <a:off x="640080" y="1905000"/>
            <a:ext cx="512064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A483BBC-98FE-4484-B183-9C057C4A1806}"/>
              </a:ext>
            </a:extLst>
          </p:cNvPr>
          <p:cNvSpPr>
            <a:spLocks xmlns:a="http://schemas.openxmlformats.org/drawingml/2006/main" noGrp="1"/>
          </p:cNvSpPr>
          <p:nvPr/>
        </p:nvSpPr>
        <p:spPr>
          <a:xfrm xmlns:a="http://schemas.openxmlformats.org/drawingml/2006/main">
            <a:off x="360045" y="1016000"/>
            <a:ext cx="320040" cy="254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5A82AE9-4D42-4F50-A07D-73C93625B57D}"/>
              </a:ext>
            </a:extLst>
          </p:cNvPr>
          <p:cNvSpPr>
            <a:spLocks xmlns:a="http://schemas.openxmlformats.org/drawingml/2006/main" noGrp="1"/>
          </p:cNvSpPr>
          <p:nvPr>
            <p:ph type="title" idx="0"/>
          </p:nvPr>
        </p:nvSpPr>
        <p:spPr>
          <a:xfrm xmlns:a="http://schemas.openxmlformats.org/drawingml/2006/main">
            <a:off x="360045" y="355600"/>
            <a:ext cx="5680710" cy="558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7D3E18C-7C9C-4CED-A16B-F816C15A7989}"/>
              </a:ext>
            </a:extLst>
          </p:cNvPr>
          <p:cNvSpPr>
            <a:spLocks xmlns:a="http://schemas.openxmlformats.org/drawingml/2006/main" noGrp="1"/>
          </p:cNvSpPr>
          <p:nvPr>
            <p:ph type="body" idx="1"/>
          </p:nvPr>
        </p:nvSpPr>
        <p:spPr>
          <a:xfrm xmlns:a="http://schemas.openxmlformats.org/drawingml/2006/main">
            <a:off x="360045" y="1270000"/>
            <a:ext cx="5680710"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0015" indent="-120015">
              <a:lnSpc>
                <a:spcPct val="110000"/>
              </a:lnSpc>
              <a:spcBef>
                <a:spcPts val="0"/>
              </a:spcBef>
              <a:spcAft>
                <a:spcPts val="630"/>
              </a:spcAft>
              <a:buChar char="•"/>
            </a:lvl1pPr>
            <a:lvl2pPr marL="280035" indent="-120015">
              <a:lnSpc>
                <a:spcPct val="110000"/>
              </a:lnSpc>
              <a:spcBef>
                <a:spcPts val="0"/>
              </a:spcBef>
              <a:spcAft>
                <a:spcPts val="630"/>
              </a:spcAft>
              <a:buChar char="•"/>
            </a:lvl2pPr>
            <a:lvl3pPr marL="440055" indent="-120015">
              <a:lnSpc>
                <a:spcPct val="110000"/>
              </a:lnSpc>
              <a:spcBef>
                <a:spcPts val="0"/>
              </a:spcBef>
              <a:spcAft>
                <a:spcPts val="630"/>
              </a:spcAft>
              <a:buChar char="•"/>
            </a:lvl3pPr>
            <a:lvl4pPr marL="600075" indent="-120015">
              <a:lnSpc>
                <a:spcPct val="110000"/>
              </a:lnSpc>
              <a:spcBef>
                <a:spcPts val="0"/>
              </a:spcBef>
              <a:spcAft>
                <a:spcPts val="630"/>
              </a:spcAft>
              <a:buChar char="•"/>
            </a:lvl4pPr>
            <a:lvl5pPr marL="760095" indent="-120015">
              <a:lnSpc>
                <a:spcPct val="110000"/>
              </a:lnSpc>
              <a:spcBef>
                <a:spcPts val="0"/>
              </a:spcBef>
              <a:spcAft>
                <a:spcPts val="630"/>
              </a:spcAft>
              <a:buChar char="•"/>
            </a:lvl5pPr>
            <a:lvl6pPr marL="920115" indent="-120015">
              <a:lnSpc>
                <a:spcPct val="110000"/>
              </a:lnSpc>
              <a:spcBef>
                <a:spcPts val="0"/>
              </a:spcBef>
              <a:spcAft>
                <a:spcPts val="630"/>
              </a:spcAft>
              <a:buChar char="•"/>
            </a:lvl6pPr>
            <a:lvl7pPr marL="1080135" indent="-120015">
              <a:lnSpc>
                <a:spcPct val="110000"/>
              </a:lnSpc>
              <a:spcBef>
                <a:spcPts val="0"/>
              </a:spcBef>
              <a:spcAft>
                <a:spcPts val="630"/>
              </a:spcAft>
              <a:buChar char="•"/>
            </a:lvl7pPr>
            <a:lvl8pPr marL="1240155" indent="-120015">
              <a:lnSpc>
                <a:spcPct val="110000"/>
              </a:lnSpc>
              <a:spcBef>
                <a:spcPts val="0"/>
              </a:spcBef>
              <a:spcAft>
                <a:spcPts val="630"/>
              </a:spcAft>
              <a:buChar char="•"/>
            </a:lvl8pPr>
            <a:lvl9pPr marL="1400175" indent="-120015">
              <a:lnSpc>
                <a:spcPct val="110000"/>
              </a:lnSpc>
              <a:spcBef>
                <a:spcPts val="0"/>
              </a:spcBef>
              <a:spcAft>
                <a:spcPts val="63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0CE70FA-D50D-4B1C-9C88-42DD8434A870}"/>
              </a:ext>
            </a:extLst>
          </p:cNvPr>
          <p:cNvSpPr>
            <a:spLocks xmlns:a="http://schemas.openxmlformats.org/drawingml/2006/main" noGrp="1"/>
          </p:cNvSpPr>
          <p:nvPr/>
        </p:nvSpPr>
        <p:spPr>
          <a:xfrm xmlns:a="http://schemas.openxmlformats.org/drawingml/2006/main">
            <a:off x="360045" y="1016000"/>
            <a:ext cx="320040" cy="254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A61FF71-3233-4E26-B304-4E9B6756C4C0}"/>
              </a:ext>
            </a:extLst>
          </p:cNvPr>
          <p:cNvSpPr>
            <a:spLocks xmlns:a="http://schemas.openxmlformats.org/drawingml/2006/main" noGrp="1"/>
          </p:cNvSpPr>
          <p:nvPr>
            <p:ph type="title" idx="0"/>
          </p:nvPr>
        </p:nvSpPr>
        <p:spPr>
          <a:xfrm xmlns:a="http://schemas.openxmlformats.org/drawingml/2006/main">
            <a:off x="360045" y="355600"/>
            <a:ext cx="5680710" cy="558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B5214E1-26B2-47B8-8A1B-A3F34D25FC90}"/>
              </a:ext>
            </a:extLst>
          </p:cNvPr>
          <p:cNvSpPr>
            <a:spLocks xmlns:a="http://schemas.openxmlformats.org/drawingml/2006/main" noGrp="1"/>
          </p:cNvSpPr>
          <p:nvPr>
            <p:ph type="body" idx="1"/>
          </p:nvPr>
        </p:nvSpPr>
        <p:spPr>
          <a:xfrm xmlns:a="http://schemas.openxmlformats.org/drawingml/2006/main">
            <a:off x="360045" y="1270000"/>
            <a:ext cx="2640330"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0015" indent="-120015">
              <a:lnSpc>
                <a:spcPct val="110000"/>
              </a:lnSpc>
              <a:spcBef>
                <a:spcPts val="0"/>
              </a:spcBef>
              <a:spcAft>
                <a:spcPts val="630"/>
              </a:spcAft>
              <a:buChar char="•"/>
            </a:lvl1pPr>
            <a:lvl2pPr marL="280035" indent="-120015">
              <a:lnSpc>
                <a:spcPct val="110000"/>
              </a:lnSpc>
              <a:spcBef>
                <a:spcPts val="0"/>
              </a:spcBef>
              <a:spcAft>
                <a:spcPts val="630"/>
              </a:spcAft>
              <a:buChar char="•"/>
            </a:lvl2pPr>
            <a:lvl3pPr marL="440055" indent="-120015">
              <a:lnSpc>
                <a:spcPct val="110000"/>
              </a:lnSpc>
              <a:spcBef>
                <a:spcPts val="0"/>
              </a:spcBef>
              <a:spcAft>
                <a:spcPts val="630"/>
              </a:spcAft>
              <a:buChar char="•"/>
            </a:lvl3pPr>
            <a:lvl4pPr marL="600075" indent="-120015">
              <a:lnSpc>
                <a:spcPct val="110000"/>
              </a:lnSpc>
              <a:spcBef>
                <a:spcPts val="0"/>
              </a:spcBef>
              <a:spcAft>
                <a:spcPts val="630"/>
              </a:spcAft>
              <a:buChar char="•"/>
            </a:lvl4pPr>
            <a:lvl5pPr marL="760095" indent="-120015">
              <a:lnSpc>
                <a:spcPct val="110000"/>
              </a:lnSpc>
              <a:spcBef>
                <a:spcPts val="0"/>
              </a:spcBef>
              <a:spcAft>
                <a:spcPts val="630"/>
              </a:spcAft>
              <a:buChar char="•"/>
            </a:lvl5pPr>
            <a:lvl6pPr marL="920115" indent="-120015">
              <a:lnSpc>
                <a:spcPct val="110000"/>
              </a:lnSpc>
              <a:spcBef>
                <a:spcPts val="0"/>
              </a:spcBef>
              <a:spcAft>
                <a:spcPts val="630"/>
              </a:spcAft>
              <a:buChar char="•"/>
            </a:lvl6pPr>
            <a:lvl7pPr marL="1080135" indent="-120015">
              <a:lnSpc>
                <a:spcPct val="110000"/>
              </a:lnSpc>
              <a:spcBef>
                <a:spcPts val="0"/>
              </a:spcBef>
              <a:spcAft>
                <a:spcPts val="630"/>
              </a:spcAft>
              <a:buChar char="•"/>
            </a:lvl7pPr>
            <a:lvl8pPr marL="1240155" indent="-120015">
              <a:lnSpc>
                <a:spcPct val="110000"/>
              </a:lnSpc>
              <a:spcBef>
                <a:spcPts val="0"/>
              </a:spcBef>
              <a:spcAft>
                <a:spcPts val="630"/>
              </a:spcAft>
              <a:buChar char="•"/>
            </a:lvl8pPr>
            <a:lvl9pPr marL="1400175" indent="-120015">
              <a:lnSpc>
                <a:spcPct val="110000"/>
              </a:lnSpc>
              <a:spcBef>
                <a:spcPts val="0"/>
              </a:spcBef>
              <a:spcAft>
                <a:spcPts val="63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B11AA061-DCED-49EB-AA30-1A12B1C016F7}"/>
              </a:ext>
            </a:extLst>
          </p:cNvPr>
          <p:cNvSpPr>
            <a:spLocks xmlns:a="http://schemas.openxmlformats.org/drawingml/2006/main" noGrp="1"/>
          </p:cNvSpPr>
          <p:nvPr>
            <p:ph type="body" idx="2"/>
          </p:nvPr>
        </p:nvSpPr>
        <p:spPr>
          <a:xfrm xmlns:a="http://schemas.openxmlformats.org/drawingml/2006/main">
            <a:off x="3400425" y="1270000"/>
            <a:ext cx="2640330"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0015" indent="-120015">
              <a:lnSpc>
                <a:spcPct val="110000"/>
              </a:lnSpc>
              <a:spcBef>
                <a:spcPts val="0"/>
              </a:spcBef>
              <a:spcAft>
                <a:spcPts val="630"/>
              </a:spcAft>
              <a:buChar char="•"/>
            </a:lvl1pPr>
            <a:lvl2pPr marL="280035" indent="-120015">
              <a:lnSpc>
                <a:spcPct val="110000"/>
              </a:lnSpc>
              <a:spcBef>
                <a:spcPts val="0"/>
              </a:spcBef>
              <a:spcAft>
                <a:spcPts val="630"/>
              </a:spcAft>
              <a:buChar char="•"/>
            </a:lvl2pPr>
            <a:lvl3pPr marL="440055" indent="-120015">
              <a:lnSpc>
                <a:spcPct val="110000"/>
              </a:lnSpc>
              <a:spcBef>
                <a:spcPts val="0"/>
              </a:spcBef>
              <a:spcAft>
                <a:spcPts val="630"/>
              </a:spcAft>
              <a:buChar char="•"/>
            </a:lvl3pPr>
            <a:lvl4pPr marL="600075" indent="-120015">
              <a:lnSpc>
                <a:spcPct val="110000"/>
              </a:lnSpc>
              <a:spcBef>
                <a:spcPts val="0"/>
              </a:spcBef>
              <a:spcAft>
                <a:spcPts val="630"/>
              </a:spcAft>
              <a:buChar char="•"/>
            </a:lvl4pPr>
            <a:lvl5pPr marL="760095" indent="-120015">
              <a:lnSpc>
                <a:spcPct val="110000"/>
              </a:lnSpc>
              <a:spcBef>
                <a:spcPts val="0"/>
              </a:spcBef>
              <a:spcAft>
                <a:spcPts val="630"/>
              </a:spcAft>
              <a:buChar char="•"/>
            </a:lvl5pPr>
            <a:lvl6pPr marL="920115" indent="-120015">
              <a:lnSpc>
                <a:spcPct val="110000"/>
              </a:lnSpc>
              <a:spcBef>
                <a:spcPts val="0"/>
              </a:spcBef>
              <a:spcAft>
                <a:spcPts val="630"/>
              </a:spcAft>
              <a:buChar char="•"/>
            </a:lvl6pPr>
            <a:lvl7pPr marL="1080135" indent="-120015">
              <a:lnSpc>
                <a:spcPct val="110000"/>
              </a:lnSpc>
              <a:spcBef>
                <a:spcPts val="0"/>
              </a:spcBef>
              <a:spcAft>
                <a:spcPts val="630"/>
              </a:spcAft>
              <a:buChar char="•"/>
            </a:lvl7pPr>
            <a:lvl8pPr marL="1240155" indent="-120015">
              <a:lnSpc>
                <a:spcPct val="110000"/>
              </a:lnSpc>
              <a:spcBef>
                <a:spcPts val="0"/>
              </a:spcBef>
              <a:spcAft>
                <a:spcPts val="630"/>
              </a:spcAft>
              <a:buChar char="•"/>
            </a:lvl8pPr>
            <a:lvl9pPr marL="1400175" indent="-120015">
              <a:lnSpc>
                <a:spcPct val="110000"/>
              </a:lnSpc>
              <a:spcBef>
                <a:spcPts val="0"/>
              </a:spcBef>
              <a:spcAft>
                <a:spcPts val="63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3419544-3FD6-413B-8077-34D2B6828F87}"/>
              </a:ext>
            </a:extLst>
          </p:cNvPr>
          <p:cNvSpPr>
            <a:spLocks xmlns:a="http://schemas.openxmlformats.org/drawingml/2006/main" noGrp="1"/>
          </p:cNvSpPr>
          <p:nvPr/>
        </p:nvSpPr>
        <p:spPr>
          <a:xfrm xmlns:a="http://schemas.openxmlformats.org/drawingml/2006/main">
            <a:off x="360045" y="1016000"/>
            <a:ext cx="320040" cy="254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7CE8F9F-8DCE-4D5B-A9AD-FEAE215A3FD3}"/>
              </a:ext>
            </a:extLst>
          </p:cNvPr>
          <p:cNvSpPr>
            <a:spLocks xmlns:a="http://schemas.openxmlformats.org/drawingml/2006/main" noGrp="1"/>
          </p:cNvSpPr>
          <p:nvPr>
            <p:ph type="title" idx="0"/>
          </p:nvPr>
        </p:nvSpPr>
        <p:spPr>
          <a:xfrm xmlns:a="http://schemas.openxmlformats.org/drawingml/2006/main">
            <a:off x="360045" y="355600"/>
            <a:ext cx="5680710" cy="558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8F87569-46E2-4182-8BA3-BEBE06908057}"/>
              </a:ext>
            </a:extLst>
          </p:cNvPr>
          <p:cNvSpPr>
            <a:spLocks xmlns:a="http://schemas.openxmlformats.org/drawingml/2006/main" noGrp="1"/>
          </p:cNvSpPr>
          <p:nvPr>
            <p:ph type="body" idx="1"/>
          </p:nvPr>
        </p:nvSpPr>
        <p:spPr>
          <a:xfrm xmlns:a="http://schemas.openxmlformats.org/drawingml/2006/main">
            <a:off x="360045" y="1270000"/>
            <a:ext cx="2640330" cy="2844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0015" indent="-120015">
              <a:lnSpc>
                <a:spcPct val="110000"/>
              </a:lnSpc>
              <a:spcBef>
                <a:spcPts val="0"/>
              </a:spcBef>
              <a:spcAft>
                <a:spcPts val="630"/>
              </a:spcAft>
              <a:buChar char="•"/>
            </a:lvl1pPr>
            <a:lvl2pPr marL="280035" indent="-120015">
              <a:lnSpc>
                <a:spcPct val="110000"/>
              </a:lnSpc>
              <a:spcBef>
                <a:spcPts val="0"/>
              </a:spcBef>
              <a:spcAft>
                <a:spcPts val="630"/>
              </a:spcAft>
              <a:buChar char="•"/>
            </a:lvl2pPr>
            <a:lvl3pPr marL="440055" indent="-120015">
              <a:lnSpc>
                <a:spcPct val="110000"/>
              </a:lnSpc>
              <a:spcBef>
                <a:spcPts val="0"/>
              </a:spcBef>
              <a:spcAft>
                <a:spcPts val="630"/>
              </a:spcAft>
              <a:buChar char="•"/>
            </a:lvl3pPr>
            <a:lvl4pPr marL="600075" indent="-120015">
              <a:lnSpc>
                <a:spcPct val="110000"/>
              </a:lnSpc>
              <a:spcBef>
                <a:spcPts val="0"/>
              </a:spcBef>
              <a:spcAft>
                <a:spcPts val="630"/>
              </a:spcAft>
              <a:buChar char="•"/>
            </a:lvl4pPr>
            <a:lvl5pPr marL="760095" indent="-120015">
              <a:lnSpc>
                <a:spcPct val="110000"/>
              </a:lnSpc>
              <a:spcBef>
                <a:spcPts val="0"/>
              </a:spcBef>
              <a:spcAft>
                <a:spcPts val="630"/>
              </a:spcAft>
              <a:buChar char="•"/>
            </a:lvl5pPr>
            <a:lvl6pPr marL="920115" indent="-120015">
              <a:lnSpc>
                <a:spcPct val="110000"/>
              </a:lnSpc>
              <a:spcBef>
                <a:spcPts val="0"/>
              </a:spcBef>
              <a:spcAft>
                <a:spcPts val="630"/>
              </a:spcAft>
              <a:buChar char="•"/>
            </a:lvl6pPr>
            <a:lvl7pPr marL="1080135" indent="-120015">
              <a:lnSpc>
                <a:spcPct val="110000"/>
              </a:lnSpc>
              <a:spcBef>
                <a:spcPts val="0"/>
              </a:spcBef>
              <a:spcAft>
                <a:spcPts val="630"/>
              </a:spcAft>
              <a:buChar char="•"/>
            </a:lvl7pPr>
            <a:lvl8pPr marL="1240155" indent="-120015">
              <a:lnSpc>
                <a:spcPct val="110000"/>
              </a:lnSpc>
              <a:spcBef>
                <a:spcPts val="0"/>
              </a:spcBef>
              <a:spcAft>
                <a:spcPts val="630"/>
              </a:spcAft>
              <a:buChar char="•"/>
            </a:lvl8pPr>
            <a:lvl9pPr marL="1400175" indent="-120015">
              <a:lnSpc>
                <a:spcPct val="110000"/>
              </a:lnSpc>
              <a:spcBef>
                <a:spcPts val="0"/>
              </a:spcBef>
              <a:spcAft>
                <a:spcPts val="63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710b1c238341fe" /><Relationship Type="http://schemas.openxmlformats.org/officeDocument/2006/relationships/slideLayout" Target="/ppt/slideLayouts/slideLayout1.xml" Id="R97f85b8653c1442f" /><Relationship Type="http://schemas.openxmlformats.org/officeDocument/2006/relationships/slideLayout" Target="/ppt/slideLayouts/slideLayout2.xml" Id="Rf5026dad16fb4a4e" /><Relationship Type="http://schemas.openxmlformats.org/officeDocument/2006/relationships/slideLayout" Target="/ppt/slideLayouts/slideLayout3.xml" Id="R61472cb64b664abc" /><Relationship Type="http://schemas.openxmlformats.org/officeDocument/2006/relationships/slideLayout" Target="/ppt/slideLayouts/slideLayout4.xml" Id="R75e9577887e0437f" /><Relationship Type="http://schemas.openxmlformats.org/officeDocument/2006/relationships/slideLayout" Target="/ppt/slideLayouts/slideLayout5.xml" Id="R8dd7eea70b4644e6" /><Relationship Type="http://schemas.openxmlformats.org/officeDocument/2006/relationships/slideLayout" Target="/ppt/slideLayouts/slideLayout6.xml" Id="R3fb3251193c54f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f85b8653c1442f"/>
    <p:sldLayoutId xmlns:r="http://schemas.openxmlformats.org/officeDocument/2006/relationships" id="2147483650" r:id="Rf5026dad16fb4a4e"/>
    <p:sldLayoutId xmlns:r="http://schemas.openxmlformats.org/officeDocument/2006/relationships" id="2147483651" r:id="R61472cb64b664abc"/>
    <p:sldLayoutId xmlns:r="http://schemas.openxmlformats.org/officeDocument/2006/relationships" id="2147483652" r:id="R75e9577887e0437f"/>
    <p:sldLayoutId xmlns:r="http://schemas.openxmlformats.org/officeDocument/2006/relationships" id="2147483653" r:id="R8dd7eea70b4644e6"/>
    <p:sldLayoutId xmlns:r="http://schemas.openxmlformats.org/officeDocument/2006/relationships" id="2147483654" r:id="R3fb3251193c54f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356eb0fc7f4851" /><Relationship Type="http://schemas.openxmlformats.org/officeDocument/2006/relationships/notesSlide" Target="/ppt/notesSlides/notesSlide1.xml" Id="Ra08a5e9a49bf46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10a2c1688c4749" /><Relationship Type="http://schemas.openxmlformats.org/officeDocument/2006/relationships/notesSlide" Target="/ppt/notesSlides/notesSlide2.xml" Id="R4f07172f20c147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dc88000b0794aa5" /><Relationship Type="http://schemas.openxmlformats.org/officeDocument/2006/relationships/notesSlide" Target="/ppt/notesSlides/notesSlide3.xml" Id="Ra64ef8bc1d8a4f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836bdd06e4409a" /><Relationship Type="http://schemas.openxmlformats.org/officeDocument/2006/relationships/notesSlide" Target="/ppt/notesSlides/notesSlide4.xml" Id="Rda26ee34499e43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fff79f096754a25" /><Relationship Type="http://schemas.openxmlformats.org/officeDocument/2006/relationships/notesSlide" Target="/ppt/notesSlides/notesSlide5.xml" Id="R1d9335a6dcba49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1f7b3969ca4f6f" /><Relationship Type="http://schemas.openxmlformats.org/officeDocument/2006/relationships/notesSlide" Target="/ppt/notesSlides/notesSlide6.xml" Id="R5cab9a6bed024e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305dbbd034e4fa3" /><Relationship Type="http://schemas.openxmlformats.org/officeDocument/2006/relationships/notesSlide" Target="/ppt/notesSlides/notesSlide7.xml" Id="R935a27f00e8249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53c7cc15274200" /><Relationship Type="http://schemas.openxmlformats.org/officeDocument/2006/relationships/notesSlide" Target="/ppt/notesSlides/notesSlide8.xml" Id="R6b162e5144e240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05125c6a9764558" /><Relationship Type="http://schemas.openxmlformats.org/officeDocument/2006/relationships/notesSlide" Target="/ppt/notesSlides/notesSlide9.xml" Id="Rb41b1f4bc59b4f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3eb8068a3ed4fe0" /><Relationship Type="http://schemas.openxmlformats.org/officeDocument/2006/relationships/notesSlide" Target="/ppt/notesSlides/notesSlide10.xml" Id="Raf69f5577b4749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9235ac4788949ce" /><Relationship Type="http://schemas.openxmlformats.org/officeDocument/2006/relationships/notesSlide" Target="/ppt/notesSlides/notesSlide11.xml" Id="R7bb43edfef614c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ada7f36b7ad4815" /><Relationship Type="http://schemas.openxmlformats.org/officeDocument/2006/relationships/notesSlide" Target="/ppt/notesSlides/notesSlide12.xml" Id="R07a13fa477cd4f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80008518cc045d3" /><Relationship Type="http://schemas.openxmlformats.org/officeDocument/2006/relationships/notesSlide" Target="/ppt/notesSlides/notesSlide13.xml" Id="Rda9f90cdf0f143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7905939b5224aae" /><Relationship Type="http://schemas.openxmlformats.org/officeDocument/2006/relationships/notesSlide" Target="/ppt/notesSlides/notesSlide14.xml" Id="Rab09dba55c834f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432d9b3b9c84db7" /><Relationship Type="http://schemas.openxmlformats.org/officeDocument/2006/relationships/notesSlide" Target="/ppt/notesSlides/notesSlide15.xml" Id="R7cfddc4a880043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f0cdb2e209142d7" /><Relationship Type="http://schemas.openxmlformats.org/officeDocument/2006/relationships/notesSlide" Target="/ppt/notesSlides/notesSlide16.xml" Id="R1a0e9cbb655943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42e7824678d458c" /><Relationship Type="http://schemas.openxmlformats.org/officeDocument/2006/relationships/notesSlide" Target="/ppt/notesSlides/notesSlide17.xml" Id="Ra5e642dde2cf49b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74c6c4115d8410c" /><Relationship Type="http://schemas.openxmlformats.org/officeDocument/2006/relationships/notesSlide" Target="/ppt/notesSlides/notesSlide18.xml" Id="R359b47b29e4f44f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8905d5c58654a19" /><Relationship Type="http://schemas.openxmlformats.org/officeDocument/2006/relationships/notesSlide" Target="/ppt/notesSlides/notesSlide19.xml" Id="R1dd3cdf1bdaa4e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01f03e3d31b4867" /><Relationship Type="http://schemas.openxmlformats.org/officeDocument/2006/relationships/notesSlide" Target="/ppt/notesSlides/notesSlide20.xml" Id="Rf03330fdea044bd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f748086561b45b8" /><Relationship Type="http://schemas.openxmlformats.org/officeDocument/2006/relationships/notesSlide" Target="/ppt/notesSlides/notesSlide21.xml" Id="Rba7efc89db3f4cf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73d8e184e094818" /><Relationship Type="http://schemas.openxmlformats.org/officeDocument/2006/relationships/notesSlide" Target="/ppt/notesSlides/notesSlide22.xml" Id="R3c1189aaf6984c0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9e5047b0e804a1d" /><Relationship Type="http://schemas.openxmlformats.org/officeDocument/2006/relationships/notesSlide" Target="/ppt/notesSlides/notesSlide23.xml" Id="R7e70e3c4869a47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3178ec355f745d1" /><Relationship Type="http://schemas.openxmlformats.org/officeDocument/2006/relationships/notesSlide" Target="/ppt/notesSlides/notesSlide24.xml" Id="R469ecb39723149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26c3f3d4b8d4ee9" /><Relationship Type="http://schemas.openxmlformats.org/officeDocument/2006/relationships/notesSlide" Target="/ppt/notesSlides/notesSlide25.xml" Id="Rf4696b9a2f0640e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e241bc8630d4eb2" /><Relationship Type="http://schemas.openxmlformats.org/officeDocument/2006/relationships/notesSlide" Target="/ppt/notesSlides/notesSlide26.xml" Id="R3d30888ec1d9446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ca85d96d46e4899" /><Relationship Type="http://schemas.openxmlformats.org/officeDocument/2006/relationships/notesSlide" Target="/ppt/notesSlides/notesSlide27.xml" Id="R1494137b017f444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31fd0843f964fda" /><Relationship Type="http://schemas.openxmlformats.org/officeDocument/2006/relationships/notesSlide" Target="/ppt/notesSlides/notesSlide28.xml" Id="R1d651c0a8fd0457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5c44ce797f241b9" /><Relationship Type="http://schemas.openxmlformats.org/officeDocument/2006/relationships/notesSlide" Target="/ppt/notesSlides/notesSlide29.xml" Id="R5e41345f7f6d429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839d24d701742b5" /><Relationship Type="http://schemas.openxmlformats.org/officeDocument/2006/relationships/notesSlide" Target="/ppt/notesSlides/notesSlide30.xml" Id="Ra75b06137f5f4fa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0599aba4c5348d6" /><Relationship Type="http://schemas.openxmlformats.org/officeDocument/2006/relationships/notesSlide" Target="/ppt/notesSlides/notesSlide31.xml" Id="Rb2126a8f5566472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2cabfa691784741" /><Relationship Type="http://schemas.openxmlformats.org/officeDocument/2006/relationships/notesSlide" Target="/ppt/notesSlides/notesSlide32.xml" Id="R96fc1e30dd8c414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4e35a8ae89b4e35" /><Relationship Type="http://schemas.openxmlformats.org/officeDocument/2006/relationships/notesSlide" Target="/ppt/notesSlides/notesSlide33.xml" Id="R0c3a8d101dbc424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d4e04feba0c4de7" /><Relationship Type="http://schemas.openxmlformats.org/officeDocument/2006/relationships/notesSlide" Target="/ppt/notesSlides/notesSlide34.xml" Id="Rc7f3ddc26fee427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92e55990914a71" /><Relationship Type="http://schemas.openxmlformats.org/officeDocument/2006/relationships/notesSlide" Target="/ppt/notesSlides/notesSlide35.xml" Id="R519b59cba69c47f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fc1569cab8a4503" /><Relationship Type="http://schemas.openxmlformats.org/officeDocument/2006/relationships/notesSlide" Target="/ppt/notesSlides/notesSlide36.xml" Id="R3fbcb8894297457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f8ee36f508ed4e1e" /><Relationship Type="http://schemas.openxmlformats.org/officeDocument/2006/relationships/notesSlide" Target="/ppt/notesSlides/notesSlide37.xml" Id="Rf5681def9f31454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564e9fbfba0442b" /><Relationship Type="http://schemas.openxmlformats.org/officeDocument/2006/relationships/notesSlide" Target="/ppt/notesSlides/notesSlide38.xml" Id="R43316324ceb047f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814b78b6ac342a3" /><Relationship Type="http://schemas.openxmlformats.org/officeDocument/2006/relationships/notesSlide" Target="/ppt/notesSlides/notesSlide39.xml" Id="R6ef79fcc959d414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313e1047ee54417" /><Relationship Type="http://schemas.openxmlformats.org/officeDocument/2006/relationships/notesSlide" Target="/ppt/notesSlides/notesSlide40.xml" Id="R374b647687fb48b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b34448b998742ef" /><Relationship Type="http://schemas.openxmlformats.org/officeDocument/2006/relationships/notesSlide" Target="/ppt/notesSlides/notesSlide41.xml" Id="R53291055f7164c1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07201d481554b67" /><Relationship Type="http://schemas.openxmlformats.org/officeDocument/2006/relationships/notesSlide" Target="/ppt/notesSlides/notesSlide42.xml" Id="Ra0d7b28db84645d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f3c2cd1b7d14888" /><Relationship Type="http://schemas.openxmlformats.org/officeDocument/2006/relationships/notesSlide" Target="/ppt/notesSlides/notesSlide43.xml" Id="R399db132b7b5413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2c4128502a6422f" /><Relationship Type="http://schemas.openxmlformats.org/officeDocument/2006/relationships/notesSlide" Target="/ppt/notesSlides/notesSlide44.xml" Id="R2b4ac29a03a44be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fbfcc9ac2a184fc3" /><Relationship Type="http://schemas.openxmlformats.org/officeDocument/2006/relationships/notesSlide" Target="/ppt/notesSlides/notesSlide45.xml" Id="R4a2e7be6ca36467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4a27db8612b4939" /><Relationship Type="http://schemas.openxmlformats.org/officeDocument/2006/relationships/notesSlide" Target="/ppt/notesSlides/notesSlide46.xml" Id="Rc2574e5f2ee647e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d56d41221b6f495b" /><Relationship Type="http://schemas.openxmlformats.org/officeDocument/2006/relationships/notesSlide" Target="/ppt/notesSlides/notesSlide47.xml" Id="R33d5543220374f1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afe61219f8e4631" /><Relationship Type="http://schemas.openxmlformats.org/officeDocument/2006/relationships/notesSlide" Target="/ppt/notesSlides/notesSlide48.xml" Id="R5728586c6bcd458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2F0C8EB1-C0F2-4203-A59D-84D3FFD1FAFE}"/>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3D062BE3-61FE-4708-9135-5C7801CAF89E}"/>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M01  /  STANDARD</a:t>
            </a:r>
          </a:p>
        </p:txBody>
      </p:sp>
      <p:sp>
        <p:nvSpPr>
          <p:cNvPr id="3" name="title">
            <a:extLst xmlns:a="http://schemas.openxmlformats.org/drawingml/2006/main">
              <a:ext uri="{FF2B5EF4-FFF2-40B4-BE49-F238E27FC236}">
                <a16:creationId xmlns:a16="http://schemas.microsoft.com/office/drawing/2014/main" id="{49A49869-121D-4126-A688-8927A23841B4}"/>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Pole Position</a:t>
            </a:r>
          </a:p>
        </p:txBody>
      </p:sp>
      <p:sp>
        <p:nvSpPr>
          <p:cNvPr id="4" name="authors">
            <a:extLst xmlns:a="http://schemas.openxmlformats.org/drawingml/2006/main">
              <a:ext uri="{FF2B5EF4-FFF2-40B4-BE49-F238E27FC236}">
                <a16:creationId xmlns:a16="http://schemas.microsoft.com/office/drawing/2014/main" id="{C0E9A548-670A-46C4-9DBA-CC4928B1F9E5}"/>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Ari Dunn, Zoe King</a:t>
            </a:r>
          </a:p>
        </p:txBody>
      </p:sp>
      <p:sp>
        <p:nvSpPr>
          <p:cNvPr id="5" name="expertise">
            <a:extLst xmlns:a="http://schemas.openxmlformats.org/drawingml/2006/main">
              <a:ext uri="{FF2B5EF4-FFF2-40B4-BE49-F238E27FC236}">
                <a16:creationId xmlns:a16="http://schemas.microsoft.com/office/drawing/2014/main" id="{1BAFDC65-62CC-486F-9E7C-A2507B45534E}"/>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Stability</a:t>
            </a:r>
          </a:p>
        </p:txBody>
      </p:sp>
      <p:sp>
        <p:nvSpPr>
          <p:cNvPr id="6" name="manuscript">
            <a:extLst xmlns:a="http://schemas.openxmlformats.org/drawingml/2006/main">
              <a:ext uri="{FF2B5EF4-FFF2-40B4-BE49-F238E27FC236}">
                <a16:creationId xmlns:a16="http://schemas.microsoft.com/office/drawing/2014/main" id="{3AF09EA3-027F-4609-95BF-7C886A45D17C}"/>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The authors study a scalar discrete-time system. They claim that the origin is asymptotically stable for every initial state. Their proof gives x[n] = 0.42ⁿ x[0], and simulated trajectories approach zero from several initial conditions. The paper makes no claim about disturbance rejection or robustness to changes in the model.</a:t>
            </a:r>
          </a:p>
        </p:txBody>
      </p:sp>
      <p:sp>
        <p:nvSpPr>
          <p:cNvPr id="7" name="equation">
            <a:extLst xmlns:a="http://schemas.openxmlformats.org/drawingml/2006/main">
              <a:ext uri="{FF2B5EF4-FFF2-40B4-BE49-F238E27FC236}">
                <a16:creationId xmlns:a16="http://schemas.microsoft.com/office/drawing/2014/main" id="{1B7CA814-DE8C-4153-BC18-4B0EFE7E5C6B}"/>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x[n+1] = 0.42 x[n]</a:t>
            </a:r>
          </a:p>
        </p:txBody>
      </p:sp>
      <p:sp>
        <p:nvSpPr>
          <p:cNvPr id="8" name="prompt">
            <a:extLst xmlns:a="http://schemas.openxmlformats.org/drawingml/2006/main">
              <a:ext uri="{FF2B5EF4-FFF2-40B4-BE49-F238E27FC236}">
                <a16:creationId xmlns:a16="http://schemas.microsoft.com/office/drawing/2014/main" id="{D5A55662-AE09-40CF-B643-DFC91C47C981}"/>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8825301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B22AE120-6DA6-45C6-A380-56AE261F6FF6}"/>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2A0EB5B9-D72D-454E-8124-C032CC44BDA0}"/>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M01  /  ANSWER</a:t>
            </a:r>
          </a:p>
        </p:txBody>
      </p:sp>
      <p:sp>
        <p:nvSpPr>
          <p:cNvPr id="3" name="title">
            <a:extLst xmlns:a="http://schemas.openxmlformats.org/drawingml/2006/main">
              <a:ext uri="{FF2B5EF4-FFF2-40B4-BE49-F238E27FC236}">
                <a16:creationId xmlns:a16="http://schemas.microsoft.com/office/drawing/2014/main" id="{36CEF7EB-A489-421F-9148-4E441951BE1E}"/>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Pole Position</a:t>
            </a:r>
          </a:p>
        </p:txBody>
      </p:sp>
      <p:sp>
        <p:nvSpPr>
          <p:cNvPr id="4" name="verdict">
            <a:extLst xmlns:a="http://schemas.openxmlformats.org/drawingml/2006/main">
              <a:ext uri="{FF2B5EF4-FFF2-40B4-BE49-F238E27FC236}">
                <a16:creationId xmlns:a16="http://schemas.microsoft.com/office/drawing/2014/main" id="{D78D4F47-1CCA-46FE-A64B-A8A01AAFCC8F}"/>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76344"/>
                </a:solidFill>
                <a:latin typeface="DejaVu Sans"/>
                <a:ea typeface="DejaVu Sans"/>
                <a:cs typeface="DejaVu Sans"/>
              </a:defRPr>
            </a:pPr>
            <a:r>
              <a:rPr sz="2250" b="1">
                <a:solidFill>
                  <a:srgbClr val="176344"/>
                </a:solidFill>
                <a:latin typeface="DejaVu Sans"/>
                <a:ea typeface="DejaVu Sans"/>
                <a:cs typeface="DejaVu Sans"/>
              </a:rPr>
              <a:t>ACCEPT</a:t>
            </a:r>
          </a:p>
        </p:txBody>
      </p:sp>
      <p:sp>
        <p:nvSpPr>
          <p:cNvPr id="5" name="reason-label">
            <a:extLst xmlns:a="http://schemas.openxmlformats.org/drawingml/2006/main">
              <a:ext uri="{FF2B5EF4-FFF2-40B4-BE49-F238E27FC236}">
                <a16:creationId xmlns:a16="http://schemas.microsoft.com/office/drawing/2014/main" id="{7757E3B9-0213-4CC9-B1D4-7CA34551A573}"/>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0EA64CA3-7E25-41E7-9608-5693C9E92401}"/>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  /  Stability/Performance</a:t>
            </a:r>
          </a:p>
        </p:txBody>
      </p:sp>
      <p:sp>
        <p:nvSpPr>
          <p:cNvPr id="7" name="explanation">
            <a:extLst xmlns:a="http://schemas.openxmlformats.org/drawingml/2006/main">
              <a:ext uri="{FF2B5EF4-FFF2-40B4-BE49-F238E27FC236}">
                <a16:creationId xmlns:a16="http://schemas.microsoft.com/office/drawing/2014/main" id="{8E24CDD3-3DA3-44AA-A2EA-921C859C0011}"/>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discrete-time pole has magnitude 0.42 &lt; 1. Therefore 0.42ⁿ approaches zero, and every trajectory approaches the origin. The proof supports the stated claim for the given model.</a:t>
            </a:r>
          </a:p>
        </p:txBody>
      </p:sp>
      <p:sp>
        <p:nvSpPr>
          <p:cNvPr id="8" name="repair-label">
            <a:extLst xmlns:a="http://schemas.openxmlformats.org/drawingml/2006/main">
              <a:ext uri="{FF2B5EF4-FFF2-40B4-BE49-F238E27FC236}">
                <a16:creationId xmlns:a16="http://schemas.microsoft.com/office/drawing/2014/main" id="{116FEF3F-2BE1-4806-9B8F-77BD1BF21B01}"/>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BASIS FOR ACCEPTANCE</a:t>
            </a:r>
          </a:p>
        </p:txBody>
      </p:sp>
      <p:sp>
        <p:nvSpPr>
          <p:cNvPr id="9" name="repair">
            <a:extLst xmlns:a="http://schemas.openxmlformats.org/drawingml/2006/main">
              <a:ext uri="{FF2B5EF4-FFF2-40B4-BE49-F238E27FC236}">
                <a16:creationId xmlns:a16="http://schemas.microsoft.com/office/drawing/2014/main" id="{84C5C55A-147E-4405-8FCD-AB0C5DAD7706}"/>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mathematical argument establishes exactly the stability property claimed. Extra robustness tests would address a different claim.</a:t>
            </a:r>
          </a:p>
        </p:txBody>
      </p:sp>
      <p:sp>
        <p:nvSpPr>
          <p:cNvPr id="10" name="discussion">
            <a:extLst xmlns:a="http://schemas.openxmlformats.org/drawingml/2006/main">
              <a:ext uri="{FF2B5EF4-FFF2-40B4-BE49-F238E27FC236}">
                <a16:creationId xmlns:a16="http://schemas.microsoft.com/office/drawing/2014/main" id="{CF731ADD-3152-45FB-932D-4E4B09C8E475}"/>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How would the decision change if the multiplier were 1.02?</a:t>
            </a:r>
          </a:p>
        </p:txBody>
      </p:sp>
    </p:spTree>
    <p:extLst>
      <p:ext uri="{BB962C8B-B14F-4D97-AF65-F5344CB8AC3E}">
        <p14:creationId xmlns:p14="http://schemas.microsoft.com/office/powerpoint/2010/main" val="4304773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435C7CB2-63AE-4ED5-B044-440DD72B41F1}"/>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4A3514AC-CE1F-4DAF-838B-7D55AE84812A}"/>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M02  /  STANDARD</a:t>
            </a:r>
          </a:p>
        </p:txBody>
      </p:sp>
      <p:sp>
        <p:nvSpPr>
          <p:cNvPr id="3" name="title">
            <a:extLst xmlns:a="http://schemas.openxmlformats.org/drawingml/2006/main">
              <a:ext uri="{FF2B5EF4-FFF2-40B4-BE49-F238E27FC236}">
                <a16:creationId xmlns:a16="http://schemas.microsoft.com/office/drawing/2014/main" id="{0B97571D-4AFE-4A80-ACDE-37C722FDDFEE}"/>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Delay? What Delay?</a:t>
            </a:r>
          </a:p>
        </p:txBody>
      </p:sp>
      <p:sp>
        <p:nvSpPr>
          <p:cNvPr id="4" name="authors">
            <a:extLst xmlns:a="http://schemas.openxmlformats.org/drawingml/2006/main">
              <a:ext uri="{FF2B5EF4-FFF2-40B4-BE49-F238E27FC236}">
                <a16:creationId xmlns:a16="http://schemas.microsoft.com/office/drawing/2014/main" id="{5E02729D-F44E-4A04-970E-68B72A8D5078}"/>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Nia Volt, Hugo Moss</a:t>
            </a:r>
          </a:p>
        </p:txBody>
      </p:sp>
      <p:sp>
        <p:nvSpPr>
          <p:cNvPr id="5" name="expertise">
            <a:extLst xmlns:a="http://schemas.openxmlformats.org/drawingml/2006/main">
              <a:ext uri="{FF2B5EF4-FFF2-40B4-BE49-F238E27FC236}">
                <a16:creationId xmlns:a16="http://schemas.microsoft.com/office/drawing/2014/main" id="{FE79729F-1A51-4270-A730-41938A18584F}"/>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966EAC01-1A0C-48F0-95F9-36E967634F04}"/>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high-gain controller tracks a reference accurately in simulations with instantaneous measurements. The planned hardware delivers each measurement 120 ms late. The paper claims the same tracking performance on that hardware, but its analysis and simulations contain no measurement delay. Its main contribution is the controller design and the demonstrated performance in the simulated setting.</a:t>
            </a:r>
          </a:p>
        </p:txBody>
      </p:sp>
      <p:sp>
        <p:nvSpPr>
          <p:cNvPr id="7" name="equation">
            <a:extLst xmlns:a="http://schemas.openxmlformats.org/drawingml/2006/main">
              <a:ext uri="{FF2B5EF4-FFF2-40B4-BE49-F238E27FC236}">
                <a16:creationId xmlns:a16="http://schemas.microsoft.com/office/drawing/2014/main" id="{D12F9ABF-FABF-4A41-9DDF-6722940E01A6}"/>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Simulation delay: 0 ms     Hardware delay: 120 ms</a:t>
            </a:r>
          </a:p>
        </p:txBody>
      </p:sp>
      <p:sp>
        <p:nvSpPr>
          <p:cNvPr id="8" name="prompt">
            <a:extLst xmlns:a="http://schemas.openxmlformats.org/drawingml/2006/main">
              <a:ext uri="{FF2B5EF4-FFF2-40B4-BE49-F238E27FC236}">
                <a16:creationId xmlns:a16="http://schemas.microsoft.com/office/drawing/2014/main" id="{3C1674E8-C31D-4F33-AE77-69F6F67374E1}"/>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2665059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E4F179C2-F4E4-45A8-AF5A-1618D201AE7C}"/>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4B6ADE65-1D8F-44A0-AE90-C16604A76272}"/>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M02  /  ANSWER</a:t>
            </a:r>
          </a:p>
        </p:txBody>
      </p:sp>
      <p:sp>
        <p:nvSpPr>
          <p:cNvPr id="3" name="title">
            <a:extLst xmlns:a="http://schemas.openxmlformats.org/drawingml/2006/main">
              <a:ext uri="{FF2B5EF4-FFF2-40B4-BE49-F238E27FC236}">
                <a16:creationId xmlns:a16="http://schemas.microsoft.com/office/drawing/2014/main" id="{543B47B0-3ED9-4B2E-AEFD-B5F9A2C5160D}"/>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Delay? What Delay?</a:t>
            </a:r>
          </a:p>
        </p:txBody>
      </p:sp>
      <p:sp>
        <p:nvSpPr>
          <p:cNvPr id="4" name="verdict">
            <a:extLst xmlns:a="http://schemas.openxmlformats.org/drawingml/2006/main">
              <a:ext uri="{FF2B5EF4-FFF2-40B4-BE49-F238E27FC236}">
                <a16:creationId xmlns:a16="http://schemas.microsoft.com/office/drawing/2014/main" id="{DA0AC655-9E15-4550-95F3-6AA6C45424EF}"/>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25C00"/>
                </a:solidFill>
                <a:latin typeface="DejaVu Sans"/>
                <a:ea typeface="DejaVu Sans"/>
                <a:cs typeface="DejaVu Sans"/>
              </a:defRPr>
            </a:pPr>
            <a:r>
              <a:rPr sz="2250" b="1">
                <a:solidFill>
                  <a:srgbClr val="925C00"/>
                </a:solidFill>
                <a:latin typeface="DejaVu Sans"/>
                <a:ea typeface="DejaVu Sans"/>
                <a:cs typeface="DejaVu Sans"/>
              </a:rPr>
              <a:t>REVISE</a:t>
            </a:r>
          </a:p>
        </p:txBody>
      </p:sp>
      <p:sp>
        <p:nvSpPr>
          <p:cNvPr id="5" name="reason-label">
            <a:extLst xmlns:a="http://schemas.openxmlformats.org/drawingml/2006/main">
              <a:ext uri="{FF2B5EF4-FFF2-40B4-BE49-F238E27FC236}">
                <a16:creationId xmlns:a16="http://schemas.microsoft.com/office/drawing/2014/main" id="{4B08C016-3850-41DD-8136-BBBB8912128C}"/>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824B4E0F-C312-471D-B9AC-AF627B7B40CC}"/>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Model/Assumptions  /  Evidence/Validation</a:t>
            </a:r>
          </a:p>
        </p:txBody>
      </p:sp>
      <p:sp>
        <p:nvSpPr>
          <p:cNvPr id="7" name="explanation">
            <a:extLst xmlns:a="http://schemas.openxmlformats.org/drawingml/2006/main">
              <a:ext uri="{FF2B5EF4-FFF2-40B4-BE49-F238E27FC236}">
                <a16:creationId xmlns:a16="http://schemas.microsoft.com/office/drawing/2014/main" id="{0EFAFEFD-C021-463D-8EF9-E8A4BF7AFFB1}"/>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simulated model omits a stated feature of the hardware. The results establish performance without delay, but they do not establish unchanged performance with a 120 ms delay. This gap does not by itself prove the controller fails.</a:t>
            </a:r>
          </a:p>
        </p:txBody>
      </p:sp>
      <p:sp>
        <p:nvSpPr>
          <p:cNvPr id="8" name="repair-label">
            <a:extLst xmlns:a="http://schemas.openxmlformats.org/drawingml/2006/main">
              <a:ext uri="{FF2B5EF4-FFF2-40B4-BE49-F238E27FC236}">
                <a16:creationId xmlns:a16="http://schemas.microsoft.com/office/drawing/2014/main" id="{95CFA5ED-39FA-49AE-972A-044B9DC83D96}"/>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REPAIR</a:t>
            </a:r>
          </a:p>
        </p:txBody>
      </p:sp>
      <p:sp>
        <p:nvSpPr>
          <p:cNvPr id="9" name="repair">
            <a:extLst xmlns:a="http://schemas.openxmlformats.org/drawingml/2006/main">
              <a:ext uri="{FF2B5EF4-FFF2-40B4-BE49-F238E27FC236}">
                <a16:creationId xmlns:a16="http://schemas.microsoft.com/office/drawing/2014/main" id="{A8BAEB32-B5CE-4886-B91C-3FAE9BF979CC}"/>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Include the delay in the model and evaluate it, or remove the hardware-performance claim and retain the supported simulation result.</a:t>
            </a:r>
          </a:p>
        </p:txBody>
      </p:sp>
      <p:sp>
        <p:nvSpPr>
          <p:cNvPr id="10" name="discussion">
            <a:extLst xmlns:a="http://schemas.openxmlformats.org/drawingml/2006/main">
              <a:ext uri="{FF2B5EF4-FFF2-40B4-BE49-F238E27FC236}">
                <a16:creationId xmlns:a16="http://schemas.microsoft.com/office/drawing/2014/main" id="{C8141D39-E7F5-4F16-BBFF-1AC3CCC24E2F}"/>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What evidence would support the hardware claim?</a:t>
            </a:r>
          </a:p>
        </p:txBody>
      </p:sp>
    </p:spTree>
    <p:extLst>
      <p:ext uri="{BB962C8B-B14F-4D97-AF65-F5344CB8AC3E}">
        <p14:creationId xmlns:p14="http://schemas.microsoft.com/office/powerpoint/2010/main" val="66730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0E36A375-D989-4822-A4AF-A0D42F93BC09}"/>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C916A7E7-3DF4-4ED5-9A21-D421AD4AF519}"/>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M03  /  ADVANCED</a:t>
            </a:r>
          </a:p>
        </p:txBody>
      </p:sp>
      <p:sp>
        <p:nvSpPr>
          <p:cNvPr id="3" name="title">
            <a:extLst xmlns:a="http://schemas.openxmlformats.org/drawingml/2006/main">
              <a:ext uri="{FF2B5EF4-FFF2-40B4-BE49-F238E27FC236}">
                <a16:creationId xmlns:a16="http://schemas.microsoft.com/office/drawing/2014/main" id="{FFC252C3-6161-4BAB-86EB-51F9AA3FA95F}"/>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Double the Gain, Double the Stability</a:t>
            </a:r>
          </a:p>
        </p:txBody>
      </p:sp>
      <p:sp>
        <p:nvSpPr>
          <p:cNvPr id="4" name="authors">
            <a:extLst xmlns:a="http://schemas.openxmlformats.org/drawingml/2006/main">
              <a:ext uri="{FF2B5EF4-FFF2-40B4-BE49-F238E27FC236}">
                <a16:creationId xmlns:a16="http://schemas.microsoft.com/office/drawing/2014/main" id="{46F2CE9D-7B80-45DF-A089-098ABF301E80}"/>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Theo Reed, Tess Gray</a:t>
            </a:r>
          </a:p>
        </p:txBody>
      </p:sp>
      <p:sp>
        <p:nvSpPr>
          <p:cNvPr id="5" name="expertise">
            <a:extLst xmlns:a="http://schemas.openxmlformats.org/drawingml/2006/main">
              <a:ext uri="{FF2B5EF4-FFF2-40B4-BE49-F238E27FC236}">
                <a16:creationId xmlns:a16="http://schemas.microsoft.com/office/drawing/2014/main" id="{3C416538-9997-468D-B36C-8EBB944D130D}"/>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Stability</a:t>
            </a:r>
          </a:p>
        </p:txBody>
      </p:sp>
      <p:sp>
        <p:nvSpPr>
          <p:cNvPr id="6" name="manuscript">
            <a:extLst xmlns:a="http://schemas.openxmlformats.org/drawingml/2006/main">
              <a:ext uri="{FF2B5EF4-FFF2-40B4-BE49-F238E27FC236}">
                <a16:creationId xmlns:a16="http://schemas.microsoft.com/office/drawing/2014/main" id="{576059F0-D4BC-4275-AC41-BCFC043924BF}"/>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For the discrete-time closed loop below, the authors propose a general design rule: increasing the positive feedback gain g always improves stability. They recommend the largest gain allowed by the actuator and explicitly include g = 3 among the admissible choices. This rule is the paper's sole contribution. The argument relies only on the gain being positive.</a:t>
            </a:r>
          </a:p>
        </p:txBody>
      </p:sp>
      <p:sp>
        <p:nvSpPr>
          <p:cNvPr id="7" name="equation">
            <a:extLst xmlns:a="http://schemas.openxmlformats.org/drawingml/2006/main">
              <a:ext uri="{FF2B5EF4-FFF2-40B4-BE49-F238E27FC236}">
                <a16:creationId xmlns:a16="http://schemas.microsoft.com/office/drawing/2014/main" id="{A8559DD6-C33F-40B7-BB0B-5B06F5FEEBFA}"/>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x[n+1] = (1 − g) x[n],     g &gt; 0</a:t>
            </a:r>
          </a:p>
        </p:txBody>
      </p:sp>
      <p:sp>
        <p:nvSpPr>
          <p:cNvPr id="8" name="prompt">
            <a:extLst xmlns:a="http://schemas.openxmlformats.org/drawingml/2006/main">
              <a:ext uri="{FF2B5EF4-FFF2-40B4-BE49-F238E27FC236}">
                <a16:creationId xmlns:a16="http://schemas.microsoft.com/office/drawing/2014/main" id="{D14CB13F-378E-45D9-9595-5F4D7C78C164}"/>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4128580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F70864E9-5384-4C3D-A14B-0E4448505AE4}"/>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A20B3584-9301-448A-B938-EF3FD74A533A}"/>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M03  /  ANSWER</a:t>
            </a:r>
          </a:p>
        </p:txBody>
      </p:sp>
      <p:sp>
        <p:nvSpPr>
          <p:cNvPr id="3" name="title">
            <a:extLst xmlns:a="http://schemas.openxmlformats.org/drawingml/2006/main">
              <a:ext uri="{FF2B5EF4-FFF2-40B4-BE49-F238E27FC236}">
                <a16:creationId xmlns:a16="http://schemas.microsoft.com/office/drawing/2014/main" id="{37480097-E387-4A23-AD0D-D0D83396B1CB}"/>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Double the Gain, Double the Stability</a:t>
            </a:r>
          </a:p>
        </p:txBody>
      </p:sp>
      <p:sp>
        <p:nvSpPr>
          <p:cNvPr id="4" name="verdict">
            <a:extLst xmlns:a="http://schemas.openxmlformats.org/drawingml/2006/main">
              <a:ext uri="{FF2B5EF4-FFF2-40B4-BE49-F238E27FC236}">
                <a16:creationId xmlns:a16="http://schemas.microsoft.com/office/drawing/2014/main" id="{D005834D-8F0B-436A-9CF8-464741203F05}"/>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E2730"/>
                </a:solidFill>
                <a:latin typeface="DejaVu Sans"/>
                <a:ea typeface="DejaVu Sans"/>
                <a:cs typeface="DejaVu Sans"/>
              </a:defRPr>
            </a:pPr>
            <a:r>
              <a:rPr sz="2250" b="1">
                <a:solidFill>
                  <a:srgbClr val="9E2730"/>
                </a:solidFill>
                <a:latin typeface="DejaVu Sans"/>
                <a:ea typeface="DejaVu Sans"/>
                <a:cs typeface="DejaVu Sans"/>
              </a:rPr>
              <a:t>REJECT</a:t>
            </a:r>
          </a:p>
        </p:txBody>
      </p:sp>
      <p:sp>
        <p:nvSpPr>
          <p:cNvPr id="5" name="reason-label">
            <a:extLst xmlns:a="http://schemas.openxmlformats.org/drawingml/2006/main">
              <a:ext uri="{FF2B5EF4-FFF2-40B4-BE49-F238E27FC236}">
                <a16:creationId xmlns:a16="http://schemas.microsoft.com/office/drawing/2014/main" id="{6E668595-4D19-4AFB-A529-74350F4959B6}"/>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2AAE4AAD-0EB4-4865-8EA0-249C2E13EB73}"/>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  /  Stability/Performance</a:t>
            </a:r>
          </a:p>
        </p:txBody>
      </p:sp>
      <p:sp>
        <p:nvSpPr>
          <p:cNvPr id="7" name="explanation">
            <a:extLst xmlns:a="http://schemas.openxmlformats.org/drawingml/2006/main">
              <a:ext uri="{FF2B5EF4-FFF2-40B4-BE49-F238E27FC236}">
                <a16:creationId xmlns:a16="http://schemas.microsoft.com/office/drawing/2014/main" id="{B25050BD-8740-4659-AAD8-EA54E18A5C30}"/>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At g = 3, the pole is −2 and its magnitude exceeds one. The system is unstable for nonzero initial states. In fact, asymptotic stability requires 0 &lt; g &lt; 2. A direct counterexample defeats the proposed rule.</a:t>
            </a:r>
          </a:p>
        </p:txBody>
      </p:sp>
      <p:sp>
        <p:nvSpPr>
          <p:cNvPr id="8" name="repair-label">
            <a:extLst xmlns:a="http://schemas.openxmlformats.org/drawingml/2006/main">
              <a:ext uri="{FF2B5EF4-FFF2-40B4-BE49-F238E27FC236}">
                <a16:creationId xmlns:a16="http://schemas.microsoft.com/office/drawing/2014/main" id="{9F8BB30A-7ECC-4D05-87FA-AA59701C0316}"/>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FUNDAMENTAL FLAW</a:t>
            </a:r>
          </a:p>
        </p:txBody>
      </p:sp>
      <p:sp>
        <p:nvSpPr>
          <p:cNvPr id="9" name="repair">
            <a:extLst xmlns:a="http://schemas.openxmlformats.org/drawingml/2006/main">
              <a:ext uri="{FF2B5EF4-FFF2-40B4-BE49-F238E27FC236}">
                <a16:creationId xmlns:a16="http://schemas.microsoft.com/office/drawing/2014/main" id="{5F46E744-54D0-437A-A5A3-037FBFCF5811}"/>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Replacing the rule with a bounded gain interval changes the paper's sole contribution. More simulations cannot validate the original universal claim.</a:t>
            </a:r>
          </a:p>
        </p:txBody>
      </p:sp>
      <p:sp>
        <p:nvSpPr>
          <p:cNvPr id="10" name="discussion">
            <a:extLst xmlns:a="http://schemas.openxmlformats.org/drawingml/2006/main">
              <a:ext uri="{FF2B5EF4-FFF2-40B4-BE49-F238E27FC236}">
                <a16:creationId xmlns:a16="http://schemas.microsoft.com/office/drawing/2014/main" id="{4C614940-0D7C-4F81-B99C-4C1CBA640773}"/>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Is g = 2 asymptotically stable? Explain.</a:t>
            </a:r>
          </a:p>
        </p:txBody>
      </p:sp>
    </p:spTree>
    <p:extLst>
      <p:ext uri="{BB962C8B-B14F-4D97-AF65-F5344CB8AC3E}">
        <p14:creationId xmlns:p14="http://schemas.microsoft.com/office/powerpoint/2010/main" val="2057774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B8F525BA-B83B-49D3-8F0F-BED027086764}"/>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27073297-3AF3-4F6B-BB6F-3146C8772B87}"/>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M04  /  GUIDED</a:t>
            </a:r>
          </a:p>
        </p:txBody>
      </p:sp>
      <p:sp>
        <p:nvSpPr>
          <p:cNvPr id="3" name="title">
            <a:extLst xmlns:a="http://schemas.openxmlformats.org/drawingml/2006/main">
              <a:ext uri="{FF2B5EF4-FFF2-40B4-BE49-F238E27FC236}">
                <a16:creationId xmlns:a16="http://schemas.microsoft.com/office/drawing/2014/main" id="{65E52318-A22B-41CB-BCAF-D9A08F2A11CF}"/>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A Steady Correction</a:t>
            </a:r>
          </a:p>
        </p:txBody>
      </p:sp>
      <p:sp>
        <p:nvSpPr>
          <p:cNvPr id="4" name="authors">
            <a:extLst xmlns:a="http://schemas.openxmlformats.org/drawingml/2006/main">
              <a:ext uri="{FF2B5EF4-FFF2-40B4-BE49-F238E27FC236}">
                <a16:creationId xmlns:a16="http://schemas.microsoft.com/office/drawing/2014/main" id="{F085BEBD-A80B-41E8-8299-E9F0392A0771}"/>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Mira Chen, Ari Dunn</a:t>
            </a:r>
          </a:p>
        </p:txBody>
      </p:sp>
      <p:sp>
        <p:nvSpPr>
          <p:cNvPr id="5" name="expertise">
            <a:extLst xmlns:a="http://schemas.openxmlformats.org/drawingml/2006/main">
              <a:ext uri="{FF2B5EF4-FFF2-40B4-BE49-F238E27FC236}">
                <a16:creationId xmlns:a16="http://schemas.microsoft.com/office/drawing/2014/main" id="{AFFFD84F-AB05-455D-B4D4-2209E77D868C}"/>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4707D10C-0A9F-4BBB-A7B8-7B1A274FB250}"/>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tank controller increases pump flow when the measured water level is below its target and decreases pump flow when it is above. The sensor reports the level correctly, and increasing pump flow raises the level. The paper claims that this controller uses negative feedback because its corrective action opposes the measured error. It makes no claim that the closed loop must be stable for every gain.</a:t>
            </a:r>
          </a:p>
        </p:txBody>
      </p:sp>
      <p:sp>
        <p:nvSpPr>
          <p:cNvPr id="7" name="equation">
            <a:extLst xmlns:a="http://schemas.openxmlformats.org/drawingml/2006/main">
              <a:ext uri="{FF2B5EF4-FFF2-40B4-BE49-F238E27FC236}">
                <a16:creationId xmlns:a16="http://schemas.microsoft.com/office/drawing/2014/main" id="{9CBC14A1-EBC0-4C0A-8ACE-22C8D944282A}"/>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Below target: increase flow. Above target: decrease flow.</a:t>
            </a:r>
          </a:p>
        </p:txBody>
      </p:sp>
      <p:sp>
        <p:nvSpPr>
          <p:cNvPr id="8" name="prompt">
            <a:extLst xmlns:a="http://schemas.openxmlformats.org/drawingml/2006/main">
              <a:ext uri="{FF2B5EF4-FFF2-40B4-BE49-F238E27FC236}">
                <a16:creationId xmlns:a16="http://schemas.microsoft.com/office/drawing/2014/main" id="{AEA3F7C8-4959-4FBE-9967-144F7D43E945}"/>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7180285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EAC636D9-A1F9-473E-B25D-B06DDE7DB2A7}"/>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38949554-7710-4203-8F64-2003D644F4C5}"/>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M04  /  ANSWER</a:t>
            </a:r>
          </a:p>
        </p:txBody>
      </p:sp>
      <p:sp>
        <p:nvSpPr>
          <p:cNvPr id="3" name="title">
            <a:extLst xmlns:a="http://schemas.openxmlformats.org/drawingml/2006/main">
              <a:ext uri="{FF2B5EF4-FFF2-40B4-BE49-F238E27FC236}">
                <a16:creationId xmlns:a16="http://schemas.microsoft.com/office/drawing/2014/main" id="{F12C6EFD-F3A5-46A2-97FE-3BF895AF6E09}"/>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A Steady Correction</a:t>
            </a:r>
          </a:p>
        </p:txBody>
      </p:sp>
      <p:sp>
        <p:nvSpPr>
          <p:cNvPr id="4" name="verdict">
            <a:extLst xmlns:a="http://schemas.openxmlformats.org/drawingml/2006/main">
              <a:ext uri="{FF2B5EF4-FFF2-40B4-BE49-F238E27FC236}">
                <a16:creationId xmlns:a16="http://schemas.microsoft.com/office/drawing/2014/main" id="{D4C19B0F-0C2D-4F9B-89D1-F256AE8F10C2}"/>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76344"/>
                </a:solidFill>
                <a:latin typeface="DejaVu Sans"/>
                <a:ea typeface="DejaVu Sans"/>
                <a:cs typeface="DejaVu Sans"/>
              </a:defRPr>
            </a:pPr>
            <a:r>
              <a:rPr sz="2250" b="1">
                <a:solidFill>
                  <a:srgbClr val="176344"/>
                </a:solidFill>
                <a:latin typeface="DejaVu Sans"/>
                <a:ea typeface="DejaVu Sans"/>
                <a:cs typeface="DejaVu Sans"/>
              </a:rPr>
              <a:t>ACCEPT</a:t>
            </a:r>
          </a:p>
        </p:txBody>
      </p:sp>
      <p:sp>
        <p:nvSpPr>
          <p:cNvPr id="5" name="reason-label">
            <a:extLst xmlns:a="http://schemas.openxmlformats.org/drawingml/2006/main">
              <a:ext uri="{FF2B5EF4-FFF2-40B4-BE49-F238E27FC236}">
                <a16:creationId xmlns:a16="http://schemas.microsoft.com/office/drawing/2014/main" id="{A57CE4F6-8DF1-49F2-BE53-44F000F4ABE5}"/>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DA0BA17C-FB3B-4586-AF47-986CFBF7A15C}"/>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Model/Assumptions</a:t>
            </a:r>
          </a:p>
        </p:txBody>
      </p:sp>
      <p:sp>
        <p:nvSpPr>
          <p:cNvPr id="7" name="explanation">
            <a:extLst xmlns:a="http://schemas.openxmlformats.org/drawingml/2006/main">
              <a:ext uri="{FF2B5EF4-FFF2-40B4-BE49-F238E27FC236}">
                <a16:creationId xmlns:a16="http://schemas.microsoft.com/office/drawing/2014/main" id="{3DF0E25F-4D02-482A-9802-60E733FFB5A4}"/>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stated direction of the actuator's effect and the controller's response establish negative feedback. The authors correctly limit their claim to the feedback sign. Negative feedback alone does not guarantee stability for arbitrary gains or delays.</a:t>
            </a:r>
          </a:p>
        </p:txBody>
      </p:sp>
      <p:sp>
        <p:nvSpPr>
          <p:cNvPr id="8" name="repair-label">
            <a:extLst xmlns:a="http://schemas.openxmlformats.org/drawingml/2006/main">
              <a:ext uri="{FF2B5EF4-FFF2-40B4-BE49-F238E27FC236}">
                <a16:creationId xmlns:a16="http://schemas.microsoft.com/office/drawing/2014/main" id="{2132ADE8-E5E1-44B7-A04F-2974BAE011F3}"/>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BASIS FOR ACCEPTANCE</a:t>
            </a:r>
          </a:p>
        </p:txBody>
      </p:sp>
      <p:sp>
        <p:nvSpPr>
          <p:cNvPr id="9" name="repair">
            <a:extLst xmlns:a="http://schemas.openxmlformats.org/drawingml/2006/main">
              <a:ext uri="{FF2B5EF4-FFF2-40B4-BE49-F238E27FC236}">
                <a16:creationId xmlns:a16="http://schemas.microsoft.com/office/drawing/2014/main" id="{26FA81DE-7028-429A-A4BE-47FE61E65E5B}"/>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claim matches the physical model and avoids an unsupported guarantee about stability.</a:t>
            </a:r>
          </a:p>
        </p:txBody>
      </p:sp>
      <p:sp>
        <p:nvSpPr>
          <p:cNvPr id="10" name="discussion">
            <a:extLst xmlns:a="http://schemas.openxmlformats.org/drawingml/2006/main">
              <a:ext uri="{FF2B5EF4-FFF2-40B4-BE49-F238E27FC236}">
                <a16:creationId xmlns:a16="http://schemas.microsoft.com/office/drawing/2014/main" id="{4113BB7D-3324-47E2-9887-E7DEA98D1A96}"/>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What additional information would you need to assess stability?</a:t>
            </a:r>
          </a:p>
        </p:txBody>
      </p:sp>
    </p:spTree>
    <p:extLst>
      <p:ext uri="{BB962C8B-B14F-4D97-AF65-F5344CB8AC3E}">
        <p14:creationId xmlns:p14="http://schemas.microsoft.com/office/powerpoint/2010/main" val="13820301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E40C51B5-0EEF-4EDD-8E74-40228469B8F9}"/>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A714CE69-77B2-4F9E-8641-BE6146C70876}"/>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M05  /  GUIDED</a:t>
            </a:r>
          </a:p>
        </p:txBody>
      </p:sp>
      <p:sp>
        <p:nvSpPr>
          <p:cNvPr id="3" name="title">
            <a:extLst xmlns:a="http://schemas.openxmlformats.org/drawingml/2006/main">
              <a:ext uri="{FF2B5EF4-FFF2-40B4-BE49-F238E27FC236}">
                <a16:creationId xmlns:a16="http://schemas.microsoft.com/office/drawing/2014/main" id="{7894A3C0-D851-489E-AC0E-00D355311E42}"/>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Past the Limit</a:t>
            </a:r>
          </a:p>
        </p:txBody>
      </p:sp>
      <p:sp>
        <p:nvSpPr>
          <p:cNvPr id="4" name="authors">
            <a:extLst xmlns:a="http://schemas.openxmlformats.org/drawingml/2006/main">
              <a:ext uri="{FF2B5EF4-FFF2-40B4-BE49-F238E27FC236}">
                <a16:creationId xmlns:a16="http://schemas.microsoft.com/office/drawing/2014/main" id="{C561485B-0B98-4A86-9772-B5484C6E4A78}"/>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Zoe King, Nia Volt</a:t>
            </a:r>
          </a:p>
        </p:txBody>
      </p:sp>
      <p:sp>
        <p:nvSpPr>
          <p:cNvPr id="5" name="expertise">
            <a:extLst xmlns:a="http://schemas.openxmlformats.org/drawingml/2006/main">
              <a:ext uri="{FF2B5EF4-FFF2-40B4-BE49-F238E27FC236}">
                <a16:creationId xmlns:a16="http://schemas.microsoft.com/office/drawing/2014/main" id="{58B9011D-EC4D-4410-A2C6-D02585589637}"/>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E9B26CE4-A126-46CA-9D19-1C85D756BC33}"/>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PI controller accumulates tracking error in its integral term. An unlimited-actuator simulation shows accurate tracking. The physical actuator has an input limit, but the paper never tests saturation or its effect on integral accumulation. It claims unchanged recovery from large reference changes on the device. The controller design and its demonstrated simulation performance are the main contribution.</a:t>
            </a:r>
          </a:p>
        </p:txBody>
      </p:sp>
      <p:sp>
        <p:nvSpPr>
          <p:cNvPr id="7" name="equation">
            <a:extLst xmlns:a="http://schemas.openxmlformats.org/drawingml/2006/main">
              <a:ext uri="{FF2B5EF4-FFF2-40B4-BE49-F238E27FC236}">
                <a16:creationId xmlns:a16="http://schemas.microsoft.com/office/drawing/2014/main" id="{22AD74E5-EB21-4617-AED1-7009A8727F4E}"/>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Simulation: unlimited input. Device: bounded input.</a:t>
            </a:r>
          </a:p>
        </p:txBody>
      </p:sp>
      <p:sp>
        <p:nvSpPr>
          <p:cNvPr id="8" name="prompt">
            <a:extLst xmlns:a="http://schemas.openxmlformats.org/drawingml/2006/main">
              <a:ext uri="{FF2B5EF4-FFF2-40B4-BE49-F238E27FC236}">
                <a16:creationId xmlns:a16="http://schemas.microsoft.com/office/drawing/2014/main" id="{78E712D9-B237-44B3-8D98-30F46EB01CB2}"/>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1852331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933A333A-104E-46A4-BCE5-9D31913EB9CC}"/>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F37AD38F-425B-40AC-B01C-1C830074B4D7}"/>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M05  /  ANSWER</a:t>
            </a:r>
          </a:p>
        </p:txBody>
      </p:sp>
      <p:sp>
        <p:nvSpPr>
          <p:cNvPr id="3" name="title">
            <a:extLst xmlns:a="http://schemas.openxmlformats.org/drawingml/2006/main">
              <a:ext uri="{FF2B5EF4-FFF2-40B4-BE49-F238E27FC236}">
                <a16:creationId xmlns:a16="http://schemas.microsoft.com/office/drawing/2014/main" id="{63DBF8DD-0E68-4516-879B-91469693D090}"/>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Past the Limit</a:t>
            </a:r>
          </a:p>
        </p:txBody>
      </p:sp>
      <p:sp>
        <p:nvSpPr>
          <p:cNvPr id="4" name="verdict">
            <a:extLst xmlns:a="http://schemas.openxmlformats.org/drawingml/2006/main">
              <a:ext uri="{FF2B5EF4-FFF2-40B4-BE49-F238E27FC236}">
                <a16:creationId xmlns:a16="http://schemas.microsoft.com/office/drawing/2014/main" id="{66F547E7-3C67-4414-814C-3FC0BBB45371}"/>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25C00"/>
                </a:solidFill>
                <a:latin typeface="DejaVu Sans"/>
                <a:ea typeface="DejaVu Sans"/>
                <a:cs typeface="DejaVu Sans"/>
              </a:defRPr>
            </a:pPr>
            <a:r>
              <a:rPr sz="2250" b="1">
                <a:solidFill>
                  <a:srgbClr val="925C00"/>
                </a:solidFill>
                <a:latin typeface="DejaVu Sans"/>
                <a:ea typeface="DejaVu Sans"/>
                <a:cs typeface="DejaVu Sans"/>
              </a:rPr>
              <a:t>REVISE</a:t>
            </a:r>
          </a:p>
        </p:txBody>
      </p:sp>
      <p:sp>
        <p:nvSpPr>
          <p:cNvPr id="5" name="reason-label">
            <a:extLst xmlns:a="http://schemas.openxmlformats.org/drawingml/2006/main">
              <a:ext uri="{FF2B5EF4-FFF2-40B4-BE49-F238E27FC236}">
                <a16:creationId xmlns:a16="http://schemas.microsoft.com/office/drawing/2014/main" id="{9A16FF0C-A2A0-4F97-9065-30C6C0B90E1E}"/>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A4732A65-95F3-4DDF-AEA6-977E615B4C50}"/>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Model/Assumptions  /  Evidence/Validation</a:t>
            </a:r>
          </a:p>
        </p:txBody>
      </p:sp>
      <p:sp>
        <p:nvSpPr>
          <p:cNvPr id="7" name="explanation">
            <a:extLst xmlns:a="http://schemas.openxmlformats.org/drawingml/2006/main">
              <a:ext uri="{FF2B5EF4-FFF2-40B4-BE49-F238E27FC236}">
                <a16:creationId xmlns:a16="http://schemas.microsoft.com/office/drawing/2014/main" id="{B2EA0298-4517-472B-895A-FD7E17273367}"/>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Actuator saturation changes the implemented loop, and accumulated integral error can affect recovery. The unlimited-actuator experiment does not support the device claim. The card does not establish that this controller necessarily fails.</a:t>
            </a:r>
          </a:p>
        </p:txBody>
      </p:sp>
      <p:sp>
        <p:nvSpPr>
          <p:cNvPr id="8" name="repair-label">
            <a:extLst xmlns:a="http://schemas.openxmlformats.org/drawingml/2006/main">
              <a:ext uri="{FF2B5EF4-FFF2-40B4-BE49-F238E27FC236}">
                <a16:creationId xmlns:a16="http://schemas.microsoft.com/office/drawing/2014/main" id="{921FA774-6C88-4F91-9BA2-EE0627D02BFD}"/>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REPAIR</a:t>
            </a:r>
          </a:p>
        </p:txBody>
      </p:sp>
      <p:sp>
        <p:nvSpPr>
          <p:cNvPr id="9" name="repair">
            <a:extLst xmlns:a="http://schemas.openxmlformats.org/drawingml/2006/main">
              <a:ext uri="{FF2B5EF4-FFF2-40B4-BE49-F238E27FC236}">
                <a16:creationId xmlns:a16="http://schemas.microsoft.com/office/drawing/2014/main" id="{64165D58-ABE3-41E1-8500-B71045755628}"/>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Test the input limit and address integral accumulation if necessary, or restrict the claim to the simulated unlimited-actuator setting.</a:t>
            </a:r>
          </a:p>
        </p:txBody>
      </p:sp>
      <p:sp>
        <p:nvSpPr>
          <p:cNvPr id="10" name="discussion">
            <a:extLst xmlns:a="http://schemas.openxmlformats.org/drawingml/2006/main">
              <a:ext uri="{FF2B5EF4-FFF2-40B4-BE49-F238E27FC236}">
                <a16:creationId xmlns:a16="http://schemas.microsoft.com/office/drawing/2014/main" id="{007D46BF-7A17-4C05-9575-FAC9BA06EEE1}"/>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Why might the integral term keep growing while the actuator is at its limit?</a:t>
            </a:r>
          </a:p>
        </p:txBody>
      </p:sp>
    </p:spTree>
    <p:extLst>
      <p:ext uri="{BB962C8B-B14F-4D97-AF65-F5344CB8AC3E}">
        <p14:creationId xmlns:p14="http://schemas.microsoft.com/office/powerpoint/2010/main" val="16028330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073D1B18-139D-4F56-872C-E3D3941221B5}"/>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3A599FC3-FABB-4CD5-9911-0B2FE8068CD1}"/>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M06  /  GUIDED</a:t>
            </a:r>
          </a:p>
        </p:txBody>
      </p:sp>
      <p:sp>
        <p:nvSpPr>
          <p:cNvPr id="3" name="title">
            <a:extLst xmlns:a="http://schemas.openxmlformats.org/drawingml/2006/main">
              <a:ext uri="{FF2B5EF4-FFF2-40B4-BE49-F238E27FC236}">
                <a16:creationId xmlns:a16="http://schemas.microsoft.com/office/drawing/2014/main" id="{BEC80AEA-A341-4C89-A70D-007878F2C343}"/>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Response Under Load</a:t>
            </a:r>
          </a:p>
        </p:txBody>
      </p:sp>
      <p:sp>
        <p:nvSpPr>
          <p:cNvPr id="4" name="authors">
            <a:extLst xmlns:a="http://schemas.openxmlformats.org/drawingml/2006/main">
              <a:ext uri="{FF2B5EF4-FFF2-40B4-BE49-F238E27FC236}">
                <a16:creationId xmlns:a16="http://schemas.microsoft.com/office/drawing/2014/main" id="{3F65EBBC-E4A6-4532-8D52-EE577BBC2A78}"/>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Hugo Moss, Theo Reed</a:t>
            </a:r>
          </a:p>
        </p:txBody>
      </p:sp>
      <p:sp>
        <p:nvSpPr>
          <p:cNvPr id="5" name="expertise">
            <a:extLst xmlns:a="http://schemas.openxmlformats.org/drawingml/2006/main">
              <a:ext uri="{FF2B5EF4-FFF2-40B4-BE49-F238E27FC236}">
                <a16:creationId xmlns:a16="http://schemas.microsoft.com/office/drawing/2014/main" id="{77ED3283-A16D-40C3-8072-5426C7668408}"/>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9FA7323D-8E82-4FBC-A40E-887726BD6DC0}"/>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pump controls the scalar plant below. Its actuator always satisfies |u| ≤ 1. The authors claim that their new controller makes x approach every constant target, including target r = 2. Their sole contribution is this unrestricted tracking guarantee. At a constant tracked target, the plant equation requires the steady input to equal the target. No other actuator or external input is present.</a:t>
            </a:r>
          </a:p>
        </p:txBody>
      </p:sp>
      <p:sp>
        <p:nvSpPr>
          <p:cNvPr id="7" name="equation">
            <a:extLst xmlns:a="http://schemas.openxmlformats.org/drawingml/2006/main">
              <a:ext uri="{FF2B5EF4-FFF2-40B4-BE49-F238E27FC236}">
                <a16:creationId xmlns:a16="http://schemas.microsoft.com/office/drawing/2014/main" id="{77FC376B-5B23-4AC9-B847-807956C5448B}"/>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dx/dt = −x + u,     |u| ≤ 1,     target r = 2</a:t>
            </a:r>
          </a:p>
        </p:txBody>
      </p:sp>
      <p:sp>
        <p:nvSpPr>
          <p:cNvPr id="8" name="prompt">
            <a:extLst xmlns:a="http://schemas.openxmlformats.org/drawingml/2006/main">
              <a:ext uri="{FF2B5EF4-FFF2-40B4-BE49-F238E27FC236}">
                <a16:creationId xmlns:a16="http://schemas.microsoft.com/office/drawing/2014/main" id="{6B4D3D12-725C-42CA-889C-0E1A7D3566C5}"/>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434732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99DAAEED-5DFC-4C9B-B8D4-70C199C564AD}"/>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48601BE1-B405-40B4-86C6-A1FA139F6ADE}"/>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M06  /  ANSWER</a:t>
            </a:r>
          </a:p>
        </p:txBody>
      </p:sp>
      <p:sp>
        <p:nvSpPr>
          <p:cNvPr id="3" name="title">
            <a:extLst xmlns:a="http://schemas.openxmlformats.org/drawingml/2006/main">
              <a:ext uri="{FF2B5EF4-FFF2-40B4-BE49-F238E27FC236}">
                <a16:creationId xmlns:a16="http://schemas.microsoft.com/office/drawing/2014/main" id="{268C4816-192F-47A9-B76A-646B4280EDEE}"/>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Response Under Load</a:t>
            </a:r>
          </a:p>
        </p:txBody>
      </p:sp>
      <p:sp>
        <p:nvSpPr>
          <p:cNvPr id="4" name="verdict">
            <a:extLst xmlns:a="http://schemas.openxmlformats.org/drawingml/2006/main">
              <a:ext uri="{FF2B5EF4-FFF2-40B4-BE49-F238E27FC236}">
                <a16:creationId xmlns:a16="http://schemas.microsoft.com/office/drawing/2014/main" id="{5C2B6C93-3F21-4AA9-88C6-BE1840F8672D}"/>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E2730"/>
                </a:solidFill>
                <a:latin typeface="DejaVu Sans"/>
                <a:ea typeface="DejaVu Sans"/>
                <a:cs typeface="DejaVu Sans"/>
              </a:defRPr>
            </a:pPr>
            <a:r>
              <a:rPr sz="2250" b="1">
                <a:solidFill>
                  <a:srgbClr val="9E2730"/>
                </a:solidFill>
                <a:latin typeface="DejaVu Sans"/>
                <a:ea typeface="DejaVu Sans"/>
                <a:cs typeface="DejaVu Sans"/>
              </a:rPr>
              <a:t>REJECT</a:t>
            </a:r>
          </a:p>
        </p:txBody>
      </p:sp>
      <p:sp>
        <p:nvSpPr>
          <p:cNvPr id="5" name="reason-label">
            <a:extLst xmlns:a="http://schemas.openxmlformats.org/drawingml/2006/main">
              <a:ext uri="{FF2B5EF4-FFF2-40B4-BE49-F238E27FC236}">
                <a16:creationId xmlns:a16="http://schemas.microsoft.com/office/drawing/2014/main" id="{A9838591-CE07-48FF-9BC3-ABC8F3782C15}"/>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D74711CD-401A-47EA-8284-473496B0E20E}"/>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Model/Assumptions  /  Stability/Performance</a:t>
            </a:r>
          </a:p>
        </p:txBody>
      </p:sp>
      <p:sp>
        <p:nvSpPr>
          <p:cNvPr id="7" name="explanation">
            <a:extLst xmlns:a="http://schemas.openxmlformats.org/drawingml/2006/main">
              <a:ext uri="{FF2B5EF4-FFF2-40B4-BE49-F238E27FC236}">
                <a16:creationId xmlns:a16="http://schemas.microsoft.com/office/drawing/2014/main" id="{8024E5B5-A2A9-4568-A106-CF6767622E78}"/>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Holding x = 2 requires u = 2, which the actuator cannot produce. More generally, from x(0) = 0 and u ≤ 1, the state cannot approach 2. The guarantee contradicts a physical constraint explicitly included in the model.</a:t>
            </a:r>
          </a:p>
        </p:txBody>
      </p:sp>
      <p:sp>
        <p:nvSpPr>
          <p:cNvPr id="8" name="repair-label">
            <a:extLst xmlns:a="http://schemas.openxmlformats.org/drawingml/2006/main">
              <a:ext uri="{FF2B5EF4-FFF2-40B4-BE49-F238E27FC236}">
                <a16:creationId xmlns:a16="http://schemas.microsoft.com/office/drawing/2014/main" id="{CBC8CE50-09D2-48B2-AB00-C854A70ED0C2}"/>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FUNDAMENTAL FLAW</a:t>
            </a:r>
          </a:p>
        </p:txBody>
      </p:sp>
      <p:sp>
        <p:nvSpPr>
          <p:cNvPr id="9" name="repair">
            <a:extLst xmlns:a="http://schemas.openxmlformats.org/drawingml/2006/main">
              <a:ext uri="{FF2B5EF4-FFF2-40B4-BE49-F238E27FC236}">
                <a16:creationId xmlns:a16="http://schemas.microsoft.com/office/drawing/2014/main" id="{813B4548-B703-4617-A959-AF064E98EC00}"/>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sole guarantee is impossible under the given actuator limit. Restricting targets or changing the actuator materially replaces that contribution.</a:t>
            </a:r>
          </a:p>
        </p:txBody>
      </p:sp>
      <p:sp>
        <p:nvSpPr>
          <p:cNvPr id="10" name="discussion">
            <a:extLst xmlns:a="http://schemas.openxmlformats.org/drawingml/2006/main">
              <a:ext uri="{FF2B5EF4-FFF2-40B4-BE49-F238E27FC236}">
                <a16:creationId xmlns:a16="http://schemas.microsoft.com/office/drawing/2014/main" id="{63289B4D-608F-4DB3-8AE7-AB7E667878BB}"/>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Which constant targets can satisfy the equilibrium input constraint?</a:t>
            </a:r>
          </a:p>
        </p:txBody>
      </p:sp>
    </p:spTree>
    <p:extLst>
      <p:ext uri="{BB962C8B-B14F-4D97-AF65-F5344CB8AC3E}">
        <p14:creationId xmlns:p14="http://schemas.microsoft.com/office/powerpoint/2010/main" val="12324109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61E24936-403A-4FFA-A00D-9106976EBBF0}"/>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C7E6DB75-689C-4BD4-A51E-CC9741B81325}"/>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M07  /  ADVANCED</a:t>
            </a:r>
          </a:p>
        </p:txBody>
      </p:sp>
      <p:sp>
        <p:nvSpPr>
          <p:cNvPr id="3" name="title">
            <a:extLst xmlns:a="http://schemas.openxmlformats.org/drawingml/2006/main">
              <a:ext uri="{FF2B5EF4-FFF2-40B4-BE49-F238E27FC236}">
                <a16:creationId xmlns:a16="http://schemas.microsoft.com/office/drawing/2014/main" id="{2D411283-EFD2-48B8-94CA-A6A0A480B186}"/>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Feedback on Paper</a:t>
            </a:r>
          </a:p>
        </p:txBody>
      </p:sp>
      <p:sp>
        <p:nvSpPr>
          <p:cNvPr id="4" name="authors">
            <a:extLst xmlns:a="http://schemas.openxmlformats.org/drawingml/2006/main">
              <a:ext uri="{FF2B5EF4-FFF2-40B4-BE49-F238E27FC236}">
                <a16:creationId xmlns:a16="http://schemas.microsoft.com/office/drawing/2014/main" id="{06933921-CA8C-4B71-8B10-C44FB4E82BF4}"/>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Tess Gray, Mira Chen</a:t>
            </a:r>
          </a:p>
        </p:txBody>
      </p:sp>
      <p:sp>
        <p:nvSpPr>
          <p:cNvPr id="5" name="expertise">
            <a:extLst xmlns:a="http://schemas.openxmlformats.org/drawingml/2006/main">
              <a:ext uri="{FF2B5EF4-FFF2-40B4-BE49-F238E27FC236}">
                <a16:creationId xmlns:a16="http://schemas.microsoft.com/office/drawing/2014/main" id="{1E73DF20-010B-4DB0-ABF3-C4DDAC119263}"/>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Linear Systems</a:t>
            </a:r>
          </a:p>
        </p:txBody>
      </p:sp>
      <p:sp>
        <p:nvSpPr>
          <p:cNvPr id="6" name="manuscript">
            <a:extLst xmlns:a="http://schemas.openxmlformats.org/drawingml/2006/main">
              <a:ext uri="{FF2B5EF4-FFF2-40B4-BE49-F238E27FC236}">
                <a16:creationId xmlns:a16="http://schemas.microsoft.com/office/drawing/2014/main" id="{F28C1840-2ADF-4036-BDC7-34F7A488D280}"/>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The paper claims that state feedback u = −Kx can stabilize the origin of the continuous-time system below for every initial state. The authors describe both states as controllable because both appear in A. The only input acts on the first state. The paper's sole result is a guarantee of global asymptotic stabilization of this two-state plant by choosing K.</a:t>
            </a:r>
          </a:p>
        </p:txBody>
      </p:sp>
      <p:sp>
        <p:nvSpPr>
          <p:cNvPr id="7" name="equation">
            <a:extLst xmlns:a="http://schemas.openxmlformats.org/drawingml/2006/main">
              <a:ext uri="{FF2B5EF4-FFF2-40B4-BE49-F238E27FC236}">
                <a16:creationId xmlns:a16="http://schemas.microsoft.com/office/drawing/2014/main" id="{FC96DB36-1DF5-4E7F-AB0B-3A3960481B7B}"/>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A = [[−1, 0], [0, 1]],     B = [1, 0]ᵀ</a:t>
            </a:r>
          </a:p>
        </p:txBody>
      </p:sp>
      <p:sp>
        <p:nvSpPr>
          <p:cNvPr id="8" name="prompt">
            <a:extLst xmlns:a="http://schemas.openxmlformats.org/drawingml/2006/main">
              <a:ext uri="{FF2B5EF4-FFF2-40B4-BE49-F238E27FC236}">
                <a16:creationId xmlns:a16="http://schemas.microsoft.com/office/drawing/2014/main" id="{13F24E25-6FBA-4346-8697-37964AC14190}"/>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59416989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7DA09A82-436B-4142-B09A-7D5AD0AD537B}"/>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EF9B4951-1FF4-475A-8D6E-F972561553B0}"/>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M07  /  ANSWER</a:t>
            </a:r>
          </a:p>
        </p:txBody>
      </p:sp>
      <p:sp>
        <p:nvSpPr>
          <p:cNvPr id="3" name="title">
            <a:extLst xmlns:a="http://schemas.openxmlformats.org/drawingml/2006/main">
              <a:ext uri="{FF2B5EF4-FFF2-40B4-BE49-F238E27FC236}">
                <a16:creationId xmlns:a16="http://schemas.microsoft.com/office/drawing/2014/main" id="{4B25CFB4-9C79-473A-A6FA-19ACEB9CAFE8}"/>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Feedback on Paper</a:t>
            </a:r>
          </a:p>
        </p:txBody>
      </p:sp>
      <p:sp>
        <p:nvSpPr>
          <p:cNvPr id="4" name="verdict">
            <a:extLst xmlns:a="http://schemas.openxmlformats.org/drawingml/2006/main">
              <a:ext uri="{FF2B5EF4-FFF2-40B4-BE49-F238E27FC236}">
                <a16:creationId xmlns:a16="http://schemas.microsoft.com/office/drawing/2014/main" id="{562E827B-F822-4AE0-ADB2-BABEBFD6AF3B}"/>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E2730"/>
                </a:solidFill>
                <a:latin typeface="DejaVu Sans"/>
                <a:ea typeface="DejaVu Sans"/>
                <a:cs typeface="DejaVu Sans"/>
              </a:defRPr>
            </a:pPr>
            <a:r>
              <a:rPr sz="2250" b="1">
                <a:solidFill>
                  <a:srgbClr val="9E2730"/>
                </a:solidFill>
                <a:latin typeface="DejaVu Sans"/>
                <a:ea typeface="DejaVu Sans"/>
                <a:cs typeface="DejaVu Sans"/>
              </a:rPr>
              <a:t>REJECT</a:t>
            </a:r>
          </a:p>
        </p:txBody>
      </p:sp>
      <p:sp>
        <p:nvSpPr>
          <p:cNvPr id="5" name="reason-label">
            <a:extLst xmlns:a="http://schemas.openxmlformats.org/drawingml/2006/main">
              <a:ext uri="{FF2B5EF4-FFF2-40B4-BE49-F238E27FC236}">
                <a16:creationId xmlns:a16="http://schemas.microsoft.com/office/drawing/2014/main" id="{7B2D6C1A-937A-4EB2-85FC-F49063A414BD}"/>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6B9559B6-A5FA-470D-B45F-CC89287994CF}"/>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  /  Stability/Performance</a:t>
            </a:r>
          </a:p>
        </p:txBody>
      </p:sp>
      <p:sp>
        <p:nvSpPr>
          <p:cNvPr id="7" name="explanation">
            <a:extLst xmlns:a="http://schemas.openxmlformats.org/drawingml/2006/main">
              <a:ext uri="{FF2B5EF4-FFF2-40B4-BE49-F238E27FC236}">
                <a16:creationId xmlns:a16="http://schemas.microsoft.com/office/drawing/2014/main" id="{9FE716FD-CBCE-48D5-B812-446115558CC2}"/>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second state obeys dx₂/dt = x₂ regardless of the feedback gain. Thus x₂(t) = exp(t)x₂(0), and any nonzero initial second state diverges. The unstable mode is uncontrollable, so state feedback cannot stabilize the full system.</a:t>
            </a:r>
          </a:p>
        </p:txBody>
      </p:sp>
      <p:sp>
        <p:nvSpPr>
          <p:cNvPr id="8" name="repair-label">
            <a:extLst xmlns:a="http://schemas.openxmlformats.org/drawingml/2006/main">
              <a:ext uri="{FF2B5EF4-FFF2-40B4-BE49-F238E27FC236}">
                <a16:creationId xmlns:a16="http://schemas.microsoft.com/office/drawing/2014/main" id="{CFD09F5D-E875-4FC0-BCA3-C4D11FA6026B}"/>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FUNDAMENTAL FLAW</a:t>
            </a:r>
          </a:p>
        </p:txBody>
      </p:sp>
      <p:sp>
        <p:nvSpPr>
          <p:cNvPr id="9" name="repair">
            <a:extLst xmlns:a="http://schemas.openxmlformats.org/drawingml/2006/main">
              <a:ext uri="{FF2B5EF4-FFF2-40B4-BE49-F238E27FC236}">
                <a16:creationId xmlns:a16="http://schemas.microsoft.com/office/drawing/2014/main" id="{100FEDF8-5A81-43CF-9DB4-7E6B6120055A}"/>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proposed guarantee is impossible for the stated plant. An extra actuator or a different plant would change the problem and the central result.</a:t>
            </a:r>
          </a:p>
        </p:txBody>
      </p:sp>
      <p:sp>
        <p:nvSpPr>
          <p:cNvPr id="10" name="discussion">
            <a:extLst xmlns:a="http://schemas.openxmlformats.org/drawingml/2006/main">
              <a:ext uri="{FF2B5EF4-FFF2-40B4-BE49-F238E27FC236}">
                <a16:creationId xmlns:a16="http://schemas.microsoft.com/office/drawing/2014/main" id="{A425B8AF-4D3A-4D6D-A738-19697AAAC54B}"/>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Would an uncontrollable but stable second mode create the same obstacle?</a:t>
            </a:r>
          </a:p>
        </p:txBody>
      </p:sp>
    </p:spTree>
    <p:extLst>
      <p:ext uri="{BB962C8B-B14F-4D97-AF65-F5344CB8AC3E}">
        <p14:creationId xmlns:p14="http://schemas.microsoft.com/office/powerpoint/2010/main" val="3019722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52F20AC9-FE91-49BC-8B18-ECA28C8336A7}"/>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360E3198-7E6D-4B44-96D4-A5516CB8236A}"/>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M08  /  ADVANCED</a:t>
            </a:r>
          </a:p>
        </p:txBody>
      </p:sp>
      <p:sp>
        <p:nvSpPr>
          <p:cNvPr id="3" name="title">
            <a:extLst xmlns:a="http://schemas.openxmlformats.org/drawingml/2006/main">
              <a:ext uri="{FF2B5EF4-FFF2-40B4-BE49-F238E27FC236}">
                <a16:creationId xmlns:a16="http://schemas.microsoft.com/office/drawing/2014/main" id="{0651643F-E60E-4550-97E9-BC4E86A10D38}"/>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Looking Inside</a:t>
            </a:r>
          </a:p>
        </p:txBody>
      </p:sp>
      <p:sp>
        <p:nvSpPr>
          <p:cNvPr id="4" name="authors">
            <a:extLst xmlns:a="http://schemas.openxmlformats.org/drawingml/2006/main">
              <a:ext uri="{FF2B5EF4-FFF2-40B4-BE49-F238E27FC236}">
                <a16:creationId xmlns:a16="http://schemas.microsoft.com/office/drawing/2014/main" id="{D5595321-061F-4BB2-B1FD-4D8995A7B79B}"/>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Ari Dunn, Hugo Moss</a:t>
            </a:r>
          </a:p>
        </p:txBody>
      </p:sp>
      <p:sp>
        <p:nvSpPr>
          <p:cNvPr id="5" name="expertise">
            <a:extLst xmlns:a="http://schemas.openxmlformats.org/drawingml/2006/main">
              <a:ext uri="{FF2B5EF4-FFF2-40B4-BE49-F238E27FC236}">
                <a16:creationId xmlns:a16="http://schemas.microsoft.com/office/drawing/2014/main" id="{BAA1EAEB-4094-4C51-8EDF-6BD287C84C76}"/>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Estimation</a:t>
            </a:r>
          </a:p>
        </p:txBody>
      </p:sp>
      <p:sp>
        <p:nvSpPr>
          <p:cNvPr id="6" name="manuscript">
            <a:extLst xmlns:a="http://schemas.openxmlformats.org/drawingml/2006/main">
              <a:ext uri="{FF2B5EF4-FFF2-40B4-BE49-F238E27FC236}">
                <a16:creationId xmlns:a16="http://schemas.microsoft.com/office/drawing/2014/main" id="{EDBF02E5-D0C7-496D-9BF0-1D5D47907CCF}"/>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paper studies the noiseless discrete-time system x[n+1] = Ax[n] and y[n] = Cx[n], with the matrices below. It claims that two consecutive output samples determine the two components of x[0] uniquely. The derivation gives y[0] = x₁[0] and y[1] = x₁[0] + x₂[0]. It limits the claim to this exact known model without process or measurement noise.</a:t>
            </a:r>
          </a:p>
        </p:txBody>
      </p:sp>
      <p:sp>
        <p:nvSpPr>
          <p:cNvPr id="7" name="equation">
            <a:extLst xmlns:a="http://schemas.openxmlformats.org/drawingml/2006/main">
              <a:ext uri="{FF2B5EF4-FFF2-40B4-BE49-F238E27FC236}">
                <a16:creationId xmlns:a16="http://schemas.microsoft.com/office/drawing/2014/main" id="{EC491F37-16D6-4DFB-99BA-E40806CE5FCA}"/>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A = [[1, 1], [0, 1]],     C = [1, 0]</a:t>
            </a:r>
          </a:p>
        </p:txBody>
      </p:sp>
      <p:sp>
        <p:nvSpPr>
          <p:cNvPr id="8" name="prompt">
            <a:extLst xmlns:a="http://schemas.openxmlformats.org/drawingml/2006/main">
              <a:ext uri="{FF2B5EF4-FFF2-40B4-BE49-F238E27FC236}">
                <a16:creationId xmlns:a16="http://schemas.microsoft.com/office/drawing/2014/main" id="{C4786CD0-203A-464E-9E3C-71B354DB795B}"/>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446455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AD0839E7-1497-4FE7-9F26-4192CDD10931}"/>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3C4E0D0E-6E5F-443B-A6A1-DB9675FE8668}"/>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M08  /  ANSWER</a:t>
            </a:r>
          </a:p>
        </p:txBody>
      </p:sp>
      <p:sp>
        <p:nvSpPr>
          <p:cNvPr id="3" name="title">
            <a:extLst xmlns:a="http://schemas.openxmlformats.org/drawingml/2006/main">
              <a:ext uri="{FF2B5EF4-FFF2-40B4-BE49-F238E27FC236}">
                <a16:creationId xmlns:a16="http://schemas.microsoft.com/office/drawing/2014/main" id="{DAE197AE-AABB-4475-9981-E4182E18D6E1}"/>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Looking Inside</a:t>
            </a:r>
          </a:p>
        </p:txBody>
      </p:sp>
      <p:sp>
        <p:nvSpPr>
          <p:cNvPr id="4" name="verdict">
            <a:extLst xmlns:a="http://schemas.openxmlformats.org/drawingml/2006/main">
              <a:ext uri="{FF2B5EF4-FFF2-40B4-BE49-F238E27FC236}">
                <a16:creationId xmlns:a16="http://schemas.microsoft.com/office/drawing/2014/main" id="{0E343493-C3EA-43AC-BE9A-6958FDFBD6AD}"/>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76344"/>
                </a:solidFill>
                <a:latin typeface="DejaVu Sans"/>
                <a:ea typeface="DejaVu Sans"/>
                <a:cs typeface="DejaVu Sans"/>
              </a:defRPr>
            </a:pPr>
            <a:r>
              <a:rPr sz="2250" b="1">
                <a:solidFill>
                  <a:srgbClr val="176344"/>
                </a:solidFill>
                <a:latin typeface="DejaVu Sans"/>
                <a:ea typeface="DejaVu Sans"/>
                <a:cs typeface="DejaVu Sans"/>
              </a:rPr>
              <a:t>ACCEPT</a:t>
            </a:r>
          </a:p>
        </p:txBody>
      </p:sp>
      <p:sp>
        <p:nvSpPr>
          <p:cNvPr id="5" name="reason-label">
            <a:extLst xmlns:a="http://schemas.openxmlformats.org/drawingml/2006/main">
              <a:ext uri="{FF2B5EF4-FFF2-40B4-BE49-F238E27FC236}">
                <a16:creationId xmlns:a16="http://schemas.microsoft.com/office/drawing/2014/main" id="{E4B4D1DB-DBA9-488C-BAB5-DB2EB248121A}"/>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2E14A2E5-8FB6-4CD6-858E-291F5BD140B9}"/>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a:t>
            </a:r>
          </a:p>
        </p:txBody>
      </p:sp>
      <p:sp>
        <p:nvSpPr>
          <p:cNvPr id="7" name="explanation">
            <a:extLst xmlns:a="http://schemas.openxmlformats.org/drawingml/2006/main">
              <a:ext uri="{FF2B5EF4-FFF2-40B4-BE49-F238E27FC236}">
                <a16:creationId xmlns:a16="http://schemas.microsoft.com/office/drawing/2014/main" id="{BBCE40F8-2C72-43A0-8FB6-F3A94E4CD701}"/>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observability matrix has rows C and CA: [[1, 0], [1, 1]]. Its determinant is one, so it has full rank. Equivalently, x₁[0] = y[0] and x₂[0] = y[1] − y[0]. The reconstruction claim is correct.</a:t>
            </a:r>
          </a:p>
        </p:txBody>
      </p:sp>
      <p:sp>
        <p:nvSpPr>
          <p:cNvPr id="8" name="repair-label">
            <a:extLst xmlns:a="http://schemas.openxmlformats.org/drawingml/2006/main">
              <a:ext uri="{FF2B5EF4-FFF2-40B4-BE49-F238E27FC236}">
                <a16:creationId xmlns:a16="http://schemas.microsoft.com/office/drawing/2014/main" id="{EF65A308-DA4A-48AC-BA31-EED51598EE41}"/>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BASIS FOR ACCEPTANCE</a:t>
            </a:r>
          </a:p>
        </p:txBody>
      </p:sp>
      <p:sp>
        <p:nvSpPr>
          <p:cNvPr id="9" name="repair">
            <a:extLst xmlns:a="http://schemas.openxmlformats.org/drawingml/2006/main">
              <a:ext uri="{FF2B5EF4-FFF2-40B4-BE49-F238E27FC236}">
                <a16:creationId xmlns:a16="http://schemas.microsoft.com/office/drawing/2014/main" id="{C9FC07A8-24D8-48D4-84DF-5BE2C7542CD9}"/>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argument proves unique state reconstruction under the explicitly stated noiseless assumptions.</a:t>
            </a:r>
          </a:p>
        </p:txBody>
      </p:sp>
      <p:sp>
        <p:nvSpPr>
          <p:cNvPr id="10" name="discussion">
            <a:extLst xmlns:a="http://schemas.openxmlformats.org/drawingml/2006/main">
              <a:ext uri="{FF2B5EF4-FFF2-40B4-BE49-F238E27FC236}">
                <a16:creationId xmlns:a16="http://schemas.microsoft.com/office/drawing/2014/main" id="{FCDC1F3B-B966-4ABD-8382-E18FCB62D3E8}"/>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What changes if C = [0, 1]?</a:t>
            </a:r>
          </a:p>
        </p:txBody>
      </p:sp>
    </p:spTree>
    <p:extLst>
      <p:ext uri="{BB962C8B-B14F-4D97-AF65-F5344CB8AC3E}">
        <p14:creationId xmlns:p14="http://schemas.microsoft.com/office/powerpoint/2010/main" val="82112952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833EFBB7-EEBA-4300-A0CC-13354A1D8703}"/>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414503A0-5BE6-4E9A-9B34-98A5E1857A08}"/>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M09  /  STANDARD</a:t>
            </a:r>
          </a:p>
        </p:txBody>
      </p:sp>
      <p:sp>
        <p:nvSpPr>
          <p:cNvPr id="3" name="title">
            <a:extLst xmlns:a="http://schemas.openxmlformats.org/drawingml/2006/main">
              <a:ext uri="{FF2B5EF4-FFF2-40B4-BE49-F238E27FC236}">
                <a16:creationId xmlns:a16="http://schemas.microsoft.com/office/drawing/2014/main" id="{3C9CBFB4-84F6-4616-B21D-65560FF71EB9}"/>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Shared Noise</a:t>
            </a:r>
          </a:p>
        </p:txBody>
      </p:sp>
      <p:sp>
        <p:nvSpPr>
          <p:cNvPr id="4" name="authors">
            <a:extLst xmlns:a="http://schemas.openxmlformats.org/drawingml/2006/main">
              <a:ext uri="{FF2B5EF4-FFF2-40B4-BE49-F238E27FC236}">
                <a16:creationId xmlns:a16="http://schemas.microsoft.com/office/drawing/2014/main" id="{8B27BC0F-44E2-4F67-9948-1C7A19F29206}"/>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Nia Volt, Tess Gray</a:t>
            </a:r>
          </a:p>
        </p:txBody>
      </p:sp>
      <p:sp>
        <p:nvSpPr>
          <p:cNvPr id="5" name="expertise">
            <a:extLst xmlns:a="http://schemas.openxmlformats.org/drawingml/2006/main">
              <a:ext uri="{FF2B5EF4-FFF2-40B4-BE49-F238E27FC236}">
                <a16:creationId xmlns:a16="http://schemas.microsoft.com/office/drawing/2014/main" id="{B1BF2790-0FFF-40AB-B605-44F4E0AC04F3}"/>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Estimation</a:t>
            </a:r>
          </a:p>
        </p:txBody>
      </p:sp>
      <p:sp>
        <p:nvSpPr>
          <p:cNvPr id="6" name="manuscript">
            <a:extLst xmlns:a="http://schemas.openxmlformats.org/drawingml/2006/main">
              <a:ext uri="{FF2B5EF4-FFF2-40B4-BE49-F238E27FC236}">
                <a16:creationId xmlns:a16="http://schemas.microsoft.com/office/drawing/2014/main" id="{16025FC0-EAB3-4FEE-A7B2-1EB158C6D577}"/>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Two sensors measure one scalar state. Their noises have mean zero, variance 1, and simultaneous covariance 0.8. A Kalman filter uses R = I instead. The paper reports accurate state estimates and claims calibrated uncertainty for these sensors. Its main contribution is the estimation pipeline, which already supports a general measurement covariance matrix. The paper never evaluates the stated correlation.</a:t>
            </a:r>
          </a:p>
        </p:txBody>
      </p:sp>
      <p:sp>
        <p:nvSpPr>
          <p:cNvPr id="7" name="equation">
            <a:extLst xmlns:a="http://schemas.openxmlformats.org/drawingml/2006/main">
              <a:ext uri="{FF2B5EF4-FFF2-40B4-BE49-F238E27FC236}">
                <a16:creationId xmlns:a16="http://schemas.microsoft.com/office/drawing/2014/main" id="{EF2C7D61-8C67-4CD2-AD24-E3B7FCA63217}"/>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Actual R = [[1, 0.8], [0.8, 1]]     Used R = I</a:t>
            </a:r>
          </a:p>
        </p:txBody>
      </p:sp>
      <p:sp>
        <p:nvSpPr>
          <p:cNvPr id="8" name="prompt">
            <a:extLst xmlns:a="http://schemas.openxmlformats.org/drawingml/2006/main">
              <a:ext uri="{FF2B5EF4-FFF2-40B4-BE49-F238E27FC236}">
                <a16:creationId xmlns:a16="http://schemas.microsoft.com/office/drawing/2014/main" id="{A4E926D3-0682-4085-BFB2-A0B766B78D3C}"/>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8516841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0D7DB9C2-BABD-4816-AF00-18DA97E576B9}"/>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0230AB5A-936C-474D-9C80-36530552010F}"/>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M09  /  ANSWER</a:t>
            </a:r>
          </a:p>
        </p:txBody>
      </p:sp>
      <p:sp>
        <p:nvSpPr>
          <p:cNvPr id="3" name="title">
            <a:extLst xmlns:a="http://schemas.openxmlformats.org/drawingml/2006/main">
              <a:ext uri="{FF2B5EF4-FFF2-40B4-BE49-F238E27FC236}">
                <a16:creationId xmlns:a16="http://schemas.microsoft.com/office/drawing/2014/main" id="{7E47EE6A-EDE7-4646-BBFB-779BBD14BB0E}"/>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Shared Noise</a:t>
            </a:r>
          </a:p>
        </p:txBody>
      </p:sp>
      <p:sp>
        <p:nvSpPr>
          <p:cNvPr id="4" name="verdict">
            <a:extLst xmlns:a="http://schemas.openxmlformats.org/drawingml/2006/main">
              <a:ext uri="{FF2B5EF4-FFF2-40B4-BE49-F238E27FC236}">
                <a16:creationId xmlns:a16="http://schemas.microsoft.com/office/drawing/2014/main" id="{89D242AB-F118-4851-B104-E5D3583D248A}"/>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25C00"/>
                </a:solidFill>
                <a:latin typeface="DejaVu Sans"/>
                <a:ea typeface="DejaVu Sans"/>
                <a:cs typeface="DejaVu Sans"/>
              </a:defRPr>
            </a:pPr>
            <a:r>
              <a:rPr sz="2250" b="1">
                <a:solidFill>
                  <a:srgbClr val="925C00"/>
                </a:solidFill>
                <a:latin typeface="DejaVu Sans"/>
                <a:ea typeface="DejaVu Sans"/>
                <a:cs typeface="DejaVu Sans"/>
              </a:rPr>
              <a:t>REVISE</a:t>
            </a:r>
          </a:p>
        </p:txBody>
      </p:sp>
      <p:sp>
        <p:nvSpPr>
          <p:cNvPr id="5" name="reason-label">
            <a:extLst xmlns:a="http://schemas.openxmlformats.org/drawingml/2006/main">
              <a:ext uri="{FF2B5EF4-FFF2-40B4-BE49-F238E27FC236}">
                <a16:creationId xmlns:a16="http://schemas.microsoft.com/office/drawing/2014/main" id="{5FFF5047-7EA2-4D35-9601-080351270AED}"/>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3BD41559-BD41-4B35-87D0-FACBB2B48071}"/>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Model/Assumptions  /  Evidence/Validation</a:t>
            </a:r>
          </a:p>
        </p:txBody>
      </p:sp>
      <p:sp>
        <p:nvSpPr>
          <p:cNvPr id="7" name="explanation">
            <a:extLst xmlns:a="http://schemas.openxmlformats.org/drawingml/2006/main">
              <a:ext uri="{FF2B5EF4-FFF2-40B4-BE49-F238E27FC236}">
                <a16:creationId xmlns:a16="http://schemas.microsoft.com/office/drawing/2014/main" id="{608F5DAC-4587-45D4-A6D6-50D18F425783}"/>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implemented noise model ignores a stated correlation. Good point estimates alone do not establish calibrated uncertainty. Using the actual covariance can preserve the estimation pipeline while addressing the mismatch.</a:t>
            </a:r>
          </a:p>
        </p:txBody>
      </p:sp>
      <p:sp>
        <p:nvSpPr>
          <p:cNvPr id="8" name="repair-label">
            <a:extLst xmlns:a="http://schemas.openxmlformats.org/drawingml/2006/main">
              <a:ext uri="{FF2B5EF4-FFF2-40B4-BE49-F238E27FC236}">
                <a16:creationId xmlns:a16="http://schemas.microsoft.com/office/drawing/2014/main" id="{C7C87F0E-6624-4B0B-B9DA-5C8DBEC916BA}"/>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REPAIR</a:t>
            </a:r>
          </a:p>
        </p:txBody>
      </p:sp>
      <p:sp>
        <p:nvSpPr>
          <p:cNvPr id="9" name="repair">
            <a:extLst xmlns:a="http://schemas.openxmlformats.org/drawingml/2006/main">
              <a:ext uri="{FF2B5EF4-FFF2-40B4-BE49-F238E27FC236}">
                <a16:creationId xmlns:a16="http://schemas.microsoft.com/office/drawing/2014/main" id="{DB16F9E7-66E1-40FA-BFE3-F7A5514927A8}"/>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Use the measured full covariance and reassess uncertainty calibration on the trials. Update any performance claims that change.</a:t>
            </a:r>
          </a:p>
        </p:txBody>
      </p:sp>
      <p:sp>
        <p:nvSpPr>
          <p:cNvPr id="10" name="discussion">
            <a:extLst xmlns:a="http://schemas.openxmlformats.org/drawingml/2006/main">
              <a:ext uri="{FF2B5EF4-FFF2-40B4-BE49-F238E27FC236}">
                <a16:creationId xmlns:a16="http://schemas.microsoft.com/office/drawing/2014/main" id="{74D6E736-9076-46E9-84A5-9C95D36081F9}"/>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Why can similar point estimates have different uncertainty estimates?</a:t>
            </a:r>
          </a:p>
        </p:txBody>
      </p:sp>
    </p:spTree>
    <p:extLst>
      <p:ext uri="{BB962C8B-B14F-4D97-AF65-F5344CB8AC3E}">
        <p14:creationId xmlns:p14="http://schemas.microsoft.com/office/powerpoint/2010/main" val="126607441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EF506E5E-1BE8-423E-B5D9-B311DCAC03DB}"/>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27BF93F4-32CB-4F96-9A74-2A2B7AE9873C}"/>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M10  /  STANDARD</a:t>
            </a:r>
          </a:p>
        </p:txBody>
      </p:sp>
      <p:sp>
        <p:nvSpPr>
          <p:cNvPr id="3" name="title">
            <a:extLst xmlns:a="http://schemas.openxmlformats.org/drawingml/2006/main">
              <a:ext uri="{FF2B5EF4-FFF2-40B4-BE49-F238E27FC236}">
                <a16:creationId xmlns:a16="http://schemas.microsoft.com/office/drawing/2014/main" id="{2D9AA031-4BAD-489E-9E2A-36F4C4A72478}"/>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Two Sensors, One Signal</a:t>
            </a:r>
          </a:p>
        </p:txBody>
      </p:sp>
      <p:sp>
        <p:nvSpPr>
          <p:cNvPr id="4" name="authors">
            <a:extLst xmlns:a="http://schemas.openxmlformats.org/drawingml/2006/main">
              <a:ext uri="{FF2B5EF4-FFF2-40B4-BE49-F238E27FC236}">
                <a16:creationId xmlns:a16="http://schemas.microsoft.com/office/drawing/2014/main" id="{15864E54-B2C8-4793-9693-5A2323FC3922}"/>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Theo Reed, Zoe King</a:t>
            </a:r>
          </a:p>
        </p:txBody>
      </p:sp>
      <p:sp>
        <p:nvSpPr>
          <p:cNvPr id="5" name="expertise">
            <a:extLst xmlns:a="http://schemas.openxmlformats.org/drawingml/2006/main">
              <a:ext uri="{FF2B5EF4-FFF2-40B4-BE49-F238E27FC236}">
                <a16:creationId xmlns:a16="http://schemas.microsoft.com/office/drawing/2014/main" id="{EB274A57-9AB1-4445-BD90-190FD44EBA1F}"/>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Estimation</a:t>
            </a:r>
          </a:p>
        </p:txBody>
      </p:sp>
      <p:sp>
        <p:nvSpPr>
          <p:cNvPr id="6" name="manuscript">
            <a:extLst xmlns:a="http://schemas.openxmlformats.org/drawingml/2006/main">
              <a:ext uri="{FF2B5EF4-FFF2-40B4-BE49-F238E27FC236}">
                <a16:creationId xmlns:a16="http://schemas.microsoft.com/office/drawing/2014/main" id="{9DC483D1-93A4-4B25-8C96-5AC2E5D8FB40}"/>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device copies one sensor reading into two channels. Both channels contain exactly the same zero-mean noise v with variance 1. The paper averages the two channels and claims that this duplication alone halves the estimation-error variance, creating independent information at no sensor cost. That variance reduction is the sole contribution. The true state x is fixed during the reading.</a:t>
            </a:r>
          </a:p>
        </p:txBody>
      </p:sp>
      <p:sp>
        <p:nvSpPr>
          <p:cNvPr id="7" name="equation">
            <a:extLst xmlns:a="http://schemas.openxmlformats.org/drawingml/2006/main">
              <a:ext uri="{FF2B5EF4-FFF2-40B4-BE49-F238E27FC236}">
                <a16:creationId xmlns:a16="http://schemas.microsoft.com/office/drawing/2014/main" id="{CCD995C3-FB61-40D3-8D5F-081C235300AD}"/>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y₁ = x + v,     y₂ = x + v,     x̂ = (y₁ + y₂)/2</a:t>
            </a:r>
          </a:p>
        </p:txBody>
      </p:sp>
      <p:sp>
        <p:nvSpPr>
          <p:cNvPr id="8" name="prompt">
            <a:extLst xmlns:a="http://schemas.openxmlformats.org/drawingml/2006/main">
              <a:ext uri="{FF2B5EF4-FFF2-40B4-BE49-F238E27FC236}">
                <a16:creationId xmlns:a16="http://schemas.microsoft.com/office/drawing/2014/main" id="{5BA292EC-71BA-471B-9341-CEECBCC29403}"/>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4438096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F8A13B62-4B93-4B43-A918-D3514C064AF6}"/>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4085FDE7-84F2-4380-9706-9DC6CEE0F21F}"/>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M10  /  ANSWER</a:t>
            </a:r>
          </a:p>
        </p:txBody>
      </p:sp>
      <p:sp>
        <p:nvSpPr>
          <p:cNvPr id="3" name="title">
            <a:extLst xmlns:a="http://schemas.openxmlformats.org/drawingml/2006/main">
              <a:ext uri="{FF2B5EF4-FFF2-40B4-BE49-F238E27FC236}">
                <a16:creationId xmlns:a16="http://schemas.microsoft.com/office/drawing/2014/main" id="{B68F3C2A-2FA4-4ECF-9DEC-3115021ED3B5}"/>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Two Sensors, One Signal</a:t>
            </a:r>
          </a:p>
        </p:txBody>
      </p:sp>
      <p:sp>
        <p:nvSpPr>
          <p:cNvPr id="4" name="verdict">
            <a:extLst xmlns:a="http://schemas.openxmlformats.org/drawingml/2006/main">
              <a:ext uri="{FF2B5EF4-FFF2-40B4-BE49-F238E27FC236}">
                <a16:creationId xmlns:a16="http://schemas.microsoft.com/office/drawing/2014/main" id="{5494A7E3-1D45-4936-A768-EED5D051F6AA}"/>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E2730"/>
                </a:solidFill>
                <a:latin typeface="DejaVu Sans"/>
                <a:ea typeface="DejaVu Sans"/>
                <a:cs typeface="DejaVu Sans"/>
              </a:defRPr>
            </a:pPr>
            <a:r>
              <a:rPr sz="2250" b="1">
                <a:solidFill>
                  <a:srgbClr val="9E2730"/>
                </a:solidFill>
                <a:latin typeface="DejaVu Sans"/>
                <a:ea typeface="DejaVu Sans"/>
                <a:cs typeface="DejaVu Sans"/>
              </a:rPr>
              <a:t>REJECT</a:t>
            </a:r>
          </a:p>
        </p:txBody>
      </p:sp>
      <p:sp>
        <p:nvSpPr>
          <p:cNvPr id="5" name="reason-label">
            <a:extLst xmlns:a="http://schemas.openxmlformats.org/drawingml/2006/main">
              <a:ext uri="{FF2B5EF4-FFF2-40B4-BE49-F238E27FC236}">
                <a16:creationId xmlns:a16="http://schemas.microsoft.com/office/drawing/2014/main" id="{FC66F9F8-A529-4DD7-AD81-7A94CE1D458B}"/>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73FB9171-80DB-4CC2-A18E-71049BED1751}"/>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  /  Model/Assumptions</a:t>
            </a:r>
          </a:p>
        </p:txBody>
      </p:sp>
      <p:sp>
        <p:nvSpPr>
          <p:cNvPr id="7" name="explanation">
            <a:extLst xmlns:a="http://schemas.openxmlformats.org/drawingml/2006/main">
              <a:ext uri="{FF2B5EF4-FFF2-40B4-BE49-F238E27FC236}">
                <a16:creationId xmlns:a16="http://schemas.microsoft.com/office/drawing/2014/main" id="{CD5923F9-508A-47AB-8E6A-72495209AA56}"/>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average remains x + v, so its error variance is still 1. Copying a measurement does not create independent noise realizations. A variance of 1/2 would require two independent measurements with equal variance, which this setup lacks.</a:t>
            </a:r>
          </a:p>
        </p:txBody>
      </p:sp>
      <p:sp>
        <p:nvSpPr>
          <p:cNvPr id="8" name="repair-label">
            <a:extLst xmlns:a="http://schemas.openxmlformats.org/drawingml/2006/main">
              <a:ext uri="{FF2B5EF4-FFF2-40B4-BE49-F238E27FC236}">
                <a16:creationId xmlns:a16="http://schemas.microsoft.com/office/drawing/2014/main" id="{87904891-54A4-4A96-9FD7-593FC24D1E0A}"/>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FUNDAMENTAL FLAW</a:t>
            </a:r>
          </a:p>
        </p:txBody>
      </p:sp>
      <p:sp>
        <p:nvSpPr>
          <p:cNvPr id="9" name="repair">
            <a:extLst xmlns:a="http://schemas.openxmlformats.org/drawingml/2006/main">
              <a:ext uri="{FF2B5EF4-FFF2-40B4-BE49-F238E27FC236}">
                <a16:creationId xmlns:a16="http://schemas.microsoft.com/office/drawing/2014/main" id="{CFD97943-C8BE-4291-9CD6-3CC5AA9D7BFE}"/>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sole claimed improvement disappears when the stated dependence is included. Adding an independent sensor would change the proposed method.</a:t>
            </a:r>
          </a:p>
        </p:txBody>
      </p:sp>
      <p:sp>
        <p:nvSpPr>
          <p:cNvPr id="10" name="discussion">
            <a:extLst xmlns:a="http://schemas.openxmlformats.org/drawingml/2006/main">
              <a:ext uri="{FF2B5EF4-FFF2-40B4-BE49-F238E27FC236}">
                <a16:creationId xmlns:a16="http://schemas.microsoft.com/office/drawing/2014/main" id="{F027B951-7154-4FAE-91BF-FC3DA542BEE8}"/>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What is the variance of the average if the channel noises are independent?</a:t>
            </a:r>
          </a:p>
        </p:txBody>
      </p:sp>
    </p:spTree>
    <p:extLst>
      <p:ext uri="{BB962C8B-B14F-4D97-AF65-F5344CB8AC3E}">
        <p14:creationId xmlns:p14="http://schemas.microsoft.com/office/powerpoint/2010/main" val="7680033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BBB522BB-03D3-4183-B84D-617C3A215053}"/>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977D25ED-49AC-4F28-98BE-490DF54ADFCF}"/>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M11  /  GUIDED</a:t>
            </a:r>
          </a:p>
        </p:txBody>
      </p:sp>
      <p:sp>
        <p:nvSpPr>
          <p:cNvPr id="3" name="title">
            <a:extLst xmlns:a="http://schemas.openxmlformats.org/drawingml/2006/main">
              <a:ext uri="{FF2B5EF4-FFF2-40B4-BE49-F238E27FC236}">
                <a16:creationId xmlns:a16="http://schemas.microsoft.com/office/drawing/2014/main" id="{DAA46768-CC67-413C-94A7-1773AE265CF4}"/>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Different Starts</a:t>
            </a:r>
          </a:p>
        </p:txBody>
      </p:sp>
      <p:sp>
        <p:nvSpPr>
          <p:cNvPr id="4" name="authors">
            <a:extLst xmlns:a="http://schemas.openxmlformats.org/drawingml/2006/main">
              <a:ext uri="{FF2B5EF4-FFF2-40B4-BE49-F238E27FC236}">
                <a16:creationId xmlns:a16="http://schemas.microsoft.com/office/drawing/2014/main" id="{8FC332A2-666B-4306-B57D-EB77004D0FE8}"/>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Mira Chen, Nia Volt</a:t>
            </a:r>
          </a:p>
        </p:txBody>
      </p:sp>
      <p:sp>
        <p:nvSpPr>
          <p:cNvPr id="5" name="expertise">
            <a:extLst xmlns:a="http://schemas.openxmlformats.org/drawingml/2006/main">
              <a:ext uri="{FF2B5EF4-FFF2-40B4-BE49-F238E27FC236}">
                <a16:creationId xmlns:a16="http://schemas.microsoft.com/office/drawing/2014/main" id="{8B1F6AA0-9F78-424C-A033-F021719B8006}"/>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Multi-agent Systems</a:t>
            </a:r>
          </a:p>
        </p:txBody>
      </p:sp>
      <p:sp>
        <p:nvSpPr>
          <p:cNvPr id="6" name="manuscript">
            <a:extLst xmlns:a="http://schemas.openxmlformats.org/drawingml/2006/main">
              <a:ext uri="{FF2B5EF4-FFF2-40B4-BE49-F238E27FC236}">
                <a16:creationId xmlns:a16="http://schemas.microsoft.com/office/drawing/2014/main" id="{57354302-9394-492E-9E02-85C4E740528B}"/>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Two agents continuously exchange their scalar values without delay. Each moves its value toward the other's value at the same rate. Their initial values are 2 and 6. The paper shows that their difference decays to zero and their sum stays equal to 8. It claims that both agents approach the initial average, 4, under these stated communication conditions.</a:t>
            </a:r>
          </a:p>
        </p:txBody>
      </p:sp>
      <p:sp>
        <p:nvSpPr>
          <p:cNvPr id="7" name="equation">
            <a:extLst xmlns:a="http://schemas.openxmlformats.org/drawingml/2006/main">
              <a:ext uri="{FF2B5EF4-FFF2-40B4-BE49-F238E27FC236}">
                <a16:creationId xmlns:a16="http://schemas.microsoft.com/office/drawing/2014/main" id="{26947364-5ABA-40C1-BD27-CB73516D13CE}"/>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dx₁/dt = x₂ − x₁     dx₂/dt = x₁ − x₂</a:t>
            </a:r>
          </a:p>
        </p:txBody>
      </p:sp>
      <p:sp>
        <p:nvSpPr>
          <p:cNvPr id="8" name="prompt">
            <a:extLst xmlns:a="http://schemas.openxmlformats.org/drawingml/2006/main">
              <a:ext uri="{FF2B5EF4-FFF2-40B4-BE49-F238E27FC236}">
                <a16:creationId xmlns:a16="http://schemas.microsoft.com/office/drawing/2014/main" id="{3470A730-BE55-41E2-AF6C-315BD2FC5552}"/>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73255260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98B6FB86-C3AC-4BD3-BF34-26AAFA4DD156}"/>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2F448BE2-552C-41B9-B025-C7F0E6CC7821}"/>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M11  /  ANSWER</a:t>
            </a:r>
          </a:p>
        </p:txBody>
      </p:sp>
      <p:sp>
        <p:nvSpPr>
          <p:cNvPr id="3" name="title">
            <a:extLst xmlns:a="http://schemas.openxmlformats.org/drawingml/2006/main">
              <a:ext uri="{FF2B5EF4-FFF2-40B4-BE49-F238E27FC236}">
                <a16:creationId xmlns:a16="http://schemas.microsoft.com/office/drawing/2014/main" id="{E0672BFB-846A-49C1-BFE5-3B95E1FBB2C3}"/>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Different Starts</a:t>
            </a:r>
          </a:p>
        </p:txBody>
      </p:sp>
      <p:sp>
        <p:nvSpPr>
          <p:cNvPr id="4" name="verdict">
            <a:extLst xmlns:a="http://schemas.openxmlformats.org/drawingml/2006/main">
              <a:ext uri="{FF2B5EF4-FFF2-40B4-BE49-F238E27FC236}">
                <a16:creationId xmlns:a16="http://schemas.microsoft.com/office/drawing/2014/main" id="{C7206804-D22B-432B-9007-53EB4E78DE59}"/>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76344"/>
                </a:solidFill>
                <a:latin typeface="DejaVu Sans"/>
                <a:ea typeface="DejaVu Sans"/>
                <a:cs typeface="DejaVu Sans"/>
              </a:defRPr>
            </a:pPr>
            <a:r>
              <a:rPr sz="2250" b="1">
                <a:solidFill>
                  <a:srgbClr val="176344"/>
                </a:solidFill>
                <a:latin typeface="DejaVu Sans"/>
                <a:ea typeface="DejaVu Sans"/>
                <a:cs typeface="DejaVu Sans"/>
              </a:rPr>
              <a:t>ACCEPT</a:t>
            </a:r>
          </a:p>
        </p:txBody>
      </p:sp>
      <p:sp>
        <p:nvSpPr>
          <p:cNvPr id="5" name="reason-label">
            <a:extLst xmlns:a="http://schemas.openxmlformats.org/drawingml/2006/main">
              <a:ext uri="{FF2B5EF4-FFF2-40B4-BE49-F238E27FC236}">
                <a16:creationId xmlns:a16="http://schemas.microsoft.com/office/drawing/2014/main" id="{F285E85F-EC3F-4822-B7C9-F8BBC52C9FDA}"/>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4E3031D6-8BD6-4BFE-A1F3-8F75FF77D2AD}"/>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  /  Stability/Performance</a:t>
            </a:r>
          </a:p>
        </p:txBody>
      </p:sp>
      <p:sp>
        <p:nvSpPr>
          <p:cNvPr id="7" name="explanation">
            <a:extLst xmlns:a="http://schemas.openxmlformats.org/drawingml/2006/main">
              <a:ext uri="{FF2B5EF4-FFF2-40B4-BE49-F238E27FC236}">
                <a16:creationId xmlns:a16="http://schemas.microsoft.com/office/drawing/2014/main" id="{ABF02269-24F9-47AC-998F-BB6C7A3BB836}"/>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Adding the equations gives a constant sum. Subtracting them gives d(x₁ − x₂)/dt = −2(x₁ − x₂), so the difference approaches zero. Equal limiting values with sum 8 must both equal 4.</a:t>
            </a:r>
          </a:p>
        </p:txBody>
      </p:sp>
      <p:sp>
        <p:nvSpPr>
          <p:cNvPr id="8" name="repair-label">
            <a:extLst xmlns:a="http://schemas.openxmlformats.org/drawingml/2006/main">
              <a:ext uri="{FF2B5EF4-FFF2-40B4-BE49-F238E27FC236}">
                <a16:creationId xmlns:a16="http://schemas.microsoft.com/office/drawing/2014/main" id="{18FD8106-D9AF-403C-B169-A63A9E74DB69}"/>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BASIS FOR ACCEPTANCE</a:t>
            </a:r>
          </a:p>
        </p:txBody>
      </p:sp>
      <p:sp>
        <p:nvSpPr>
          <p:cNvPr id="9" name="repair">
            <a:extLst xmlns:a="http://schemas.openxmlformats.org/drawingml/2006/main">
              <a:ext uri="{FF2B5EF4-FFF2-40B4-BE49-F238E27FC236}">
                <a16:creationId xmlns:a16="http://schemas.microsoft.com/office/drawing/2014/main" id="{554827F2-6E0E-4152-9806-FCDEA8427C3B}"/>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argument establishes both agreement and preservation of the average for the stated two-agent model.</a:t>
            </a:r>
          </a:p>
        </p:txBody>
      </p:sp>
      <p:sp>
        <p:nvSpPr>
          <p:cNvPr id="10" name="discussion">
            <a:extLst xmlns:a="http://schemas.openxmlformats.org/drawingml/2006/main">
              <a:ext uri="{FF2B5EF4-FFF2-40B4-BE49-F238E27FC236}">
                <a16:creationId xmlns:a16="http://schemas.microsoft.com/office/drawing/2014/main" id="{E831CB87-12C1-4C20-974B-DAE5B888CC03}"/>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Would agreement alone prove convergence to the initial average?</a:t>
            </a:r>
          </a:p>
        </p:txBody>
      </p:sp>
    </p:spTree>
    <p:extLst>
      <p:ext uri="{BB962C8B-B14F-4D97-AF65-F5344CB8AC3E}">
        <p14:creationId xmlns:p14="http://schemas.microsoft.com/office/powerpoint/2010/main" val="129735399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54C4089A-C465-4D4B-9AE7-D5278901B29E}"/>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8C675EBC-5BF5-4FD0-9B99-88C425CF36AC}"/>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M12  /  STANDARD</a:t>
            </a:r>
          </a:p>
        </p:txBody>
      </p:sp>
      <p:sp>
        <p:nvSpPr>
          <p:cNvPr id="3" name="title">
            <a:extLst xmlns:a="http://schemas.openxmlformats.org/drawingml/2006/main">
              <a:ext uri="{FF2B5EF4-FFF2-40B4-BE49-F238E27FC236}">
                <a16:creationId xmlns:a16="http://schemas.microsoft.com/office/drawing/2014/main" id="{D7127A01-8B4D-4E6B-A2A3-AD721F131CAC}"/>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Local Agreement</a:t>
            </a:r>
          </a:p>
        </p:txBody>
      </p:sp>
      <p:sp>
        <p:nvSpPr>
          <p:cNvPr id="4" name="authors">
            <a:extLst xmlns:a="http://schemas.openxmlformats.org/drawingml/2006/main">
              <a:ext uri="{FF2B5EF4-FFF2-40B4-BE49-F238E27FC236}">
                <a16:creationId xmlns:a16="http://schemas.microsoft.com/office/drawing/2014/main" id="{837DDD5B-AF0F-417B-B79F-3C2A45EFEAF2}"/>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Hugo Moss, Mira Chen</a:t>
            </a:r>
          </a:p>
        </p:txBody>
      </p:sp>
      <p:sp>
        <p:nvSpPr>
          <p:cNvPr id="5" name="expertise">
            <a:extLst xmlns:a="http://schemas.openxmlformats.org/drawingml/2006/main">
              <a:ext uri="{FF2B5EF4-FFF2-40B4-BE49-F238E27FC236}">
                <a16:creationId xmlns:a16="http://schemas.microsoft.com/office/drawing/2014/main" id="{837D03D5-6A41-4F07-91C6-57C91B08A544}"/>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Multi-agent Systems</a:t>
            </a:r>
          </a:p>
        </p:txBody>
      </p:sp>
      <p:sp>
        <p:nvSpPr>
          <p:cNvPr id="6" name="manuscript">
            <a:extLst xmlns:a="http://schemas.openxmlformats.org/drawingml/2006/main">
              <a:ext uri="{FF2B5EF4-FFF2-40B4-BE49-F238E27FC236}">
                <a16:creationId xmlns:a16="http://schemas.microsoft.com/office/drawing/2014/main" id="{3934C840-E284-46C1-A2C0-F288170C5E5C}"/>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Four agents use continuous-time consensus with equal bidirectional weights. Agents 1 and 2 communicate only with each other, as do agents 3 and 4. Initial values are (0, 2, 8, 10). Simulations show agreement within each pair. The contribution studies coordination within separate groups, but the conclusion claims that all four agents converge to one common value.</a:t>
            </a:r>
          </a:p>
        </p:txBody>
      </p:sp>
      <p:sp>
        <p:nvSpPr>
          <p:cNvPr id="7" name="equation">
            <a:extLst xmlns:a="http://schemas.openxmlformats.org/drawingml/2006/main">
              <a:ext uri="{FF2B5EF4-FFF2-40B4-BE49-F238E27FC236}">
                <a16:creationId xmlns:a16="http://schemas.microsoft.com/office/drawing/2014/main" id="{9F05357A-9584-4DBE-8B22-0D8FC9C38B31}"/>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Links: 1—2 and 3—4 only. Initial values: (0, 2, 8, 10)</a:t>
            </a:r>
          </a:p>
        </p:txBody>
      </p:sp>
      <p:sp>
        <p:nvSpPr>
          <p:cNvPr id="8" name="prompt">
            <a:extLst xmlns:a="http://schemas.openxmlformats.org/drawingml/2006/main">
              <a:ext uri="{FF2B5EF4-FFF2-40B4-BE49-F238E27FC236}">
                <a16:creationId xmlns:a16="http://schemas.microsoft.com/office/drawing/2014/main" id="{AC3F2F36-A3EC-43EC-936A-937197F8180A}"/>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9611073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B69265E7-BFCB-4133-932A-5587AB980D74}"/>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39A5E070-64CA-4716-B25E-B7CE526498BD}"/>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M12  /  ANSWER</a:t>
            </a:r>
          </a:p>
        </p:txBody>
      </p:sp>
      <p:sp>
        <p:nvSpPr>
          <p:cNvPr id="3" name="title">
            <a:extLst xmlns:a="http://schemas.openxmlformats.org/drawingml/2006/main">
              <a:ext uri="{FF2B5EF4-FFF2-40B4-BE49-F238E27FC236}">
                <a16:creationId xmlns:a16="http://schemas.microsoft.com/office/drawing/2014/main" id="{335D543A-D5F5-40C6-8D3A-C452229EEDC7}"/>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Local Agreement</a:t>
            </a:r>
          </a:p>
        </p:txBody>
      </p:sp>
      <p:sp>
        <p:nvSpPr>
          <p:cNvPr id="4" name="verdict">
            <a:extLst xmlns:a="http://schemas.openxmlformats.org/drawingml/2006/main">
              <a:ext uri="{FF2B5EF4-FFF2-40B4-BE49-F238E27FC236}">
                <a16:creationId xmlns:a16="http://schemas.microsoft.com/office/drawing/2014/main" id="{04A3D65F-1E2A-47C1-B799-A5A2495ECE2E}"/>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25C00"/>
                </a:solidFill>
                <a:latin typeface="DejaVu Sans"/>
                <a:ea typeface="DejaVu Sans"/>
                <a:cs typeface="DejaVu Sans"/>
              </a:defRPr>
            </a:pPr>
            <a:r>
              <a:rPr sz="2250" b="1">
                <a:solidFill>
                  <a:srgbClr val="925C00"/>
                </a:solidFill>
                <a:latin typeface="DejaVu Sans"/>
                <a:ea typeface="DejaVu Sans"/>
                <a:cs typeface="DejaVu Sans"/>
              </a:rPr>
              <a:t>REVISE</a:t>
            </a:r>
          </a:p>
        </p:txBody>
      </p:sp>
      <p:sp>
        <p:nvSpPr>
          <p:cNvPr id="5" name="reason-label">
            <a:extLst xmlns:a="http://schemas.openxmlformats.org/drawingml/2006/main">
              <a:ext uri="{FF2B5EF4-FFF2-40B4-BE49-F238E27FC236}">
                <a16:creationId xmlns:a16="http://schemas.microsoft.com/office/drawing/2014/main" id="{CD0A4F76-F11A-443E-B1DB-1F32D4E481A5}"/>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CA32FF26-17D7-47BF-B29B-CBDDB109838C}"/>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Model/Assumptions  /  Stability/Performance</a:t>
            </a:r>
          </a:p>
        </p:txBody>
      </p:sp>
      <p:sp>
        <p:nvSpPr>
          <p:cNvPr id="7" name="explanation">
            <a:extLst xmlns:a="http://schemas.openxmlformats.org/drawingml/2006/main">
              <a:ext uri="{FF2B5EF4-FFF2-40B4-BE49-F238E27FC236}">
                <a16:creationId xmlns:a16="http://schemas.microsoft.com/office/drawing/2014/main" id="{7354FF64-3D68-402C-B9CA-2422D611BC96}"/>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disconnected pairs converge separately to 1 and 9. The results support agreement within each group, which is the stated study's contribution. They do not support one value shared by all four agents.</a:t>
            </a:r>
          </a:p>
        </p:txBody>
      </p:sp>
      <p:sp>
        <p:nvSpPr>
          <p:cNvPr id="8" name="repair-label">
            <a:extLst xmlns:a="http://schemas.openxmlformats.org/drawingml/2006/main">
              <a:ext uri="{FF2B5EF4-FFF2-40B4-BE49-F238E27FC236}">
                <a16:creationId xmlns:a16="http://schemas.microsoft.com/office/drawing/2014/main" id="{3855E949-F2C0-4450-A90C-A0004C150F7D}"/>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REPAIR</a:t>
            </a:r>
          </a:p>
        </p:txBody>
      </p:sp>
      <p:sp>
        <p:nvSpPr>
          <p:cNvPr id="9" name="repair">
            <a:extLst xmlns:a="http://schemas.openxmlformats.org/drawingml/2006/main">
              <a:ext uri="{FF2B5EF4-FFF2-40B4-BE49-F238E27FC236}">
                <a16:creationId xmlns:a16="http://schemas.microsoft.com/office/drawing/2014/main" id="{2F26BAA7-3658-4594-A539-46E7DBFD85EE}"/>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Limit the conclusion to consensus within connected groups and state the connectivity assumption needed for a team-wide result.</a:t>
            </a:r>
          </a:p>
        </p:txBody>
      </p:sp>
      <p:sp>
        <p:nvSpPr>
          <p:cNvPr id="10" name="discussion">
            <a:extLst xmlns:a="http://schemas.openxmlformats.org/drawingml/2006/main">
              <a:ext uri="{FF2B5EF4-FFF2-40B4-BE49-F238E27FC236}">
                <a16:creationId xmlns:a16="http://schemas.microsoft.com/office/drawing/2014/main" id="{930E9048-414A-413C-B723-36617A25D2A4}"/>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What role would a communication link between the groups play?</a:t>
            </a:r>
          </a:p>
        </p:txBody>
      </p:sp>
    </p:spTree>
    <p:extLst>
      <p:ext uri="{BB962C8B-B14F-4D97-AF65-F5344CB8AC3E}">
        <p14:creationId xmlns:p14="http://schemas.microsoft.com/office/powerpoint/2010/main" val="35895381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A692C90A-4671-4BE3-8A83-542A7DBBDEC0}"/>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01A98342-2EBA-491F-A5D9-892C0184B2EF}"/>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M13  /  ADVANCED</a:t>
            </a:r>
          </a:p>
        </p:txBody>
      </p:sp>
      <p:sp>
        <p:nvSpPr>
          <p:cNvPr id="3" name="title">
            <a:extLst xmlns:a="http://schemas.openxmlformats.org/drawingml/2006/main">
              <a:ext uri="{FF2B5EF4-FFF2-40B4-BE49-F238E27FC236}">
                <a16:creationId xmlns:a16="http://schemas.microsoft.com/office/drawing/2014/main" id="{C151078E-A2FD-42A6-B3F4-D0E42144542A}"/>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One Step Together</a:t>
            </a:r>
          </a:p>
        </p:txBody>
      </p:sp>
      <p:sp>
        <p:nvSpPr>
          <p:cNvPr id="4" name="authors">
            <a:extLst xmlns:a="http://schemas.openxmlformats.org/drawingml/2006/main">
              <a:ext uri="{FF2B5EF4-FFF2-40B4-BE49-F238E27FC236}">
                <a16:creationId xmlns:a16="http://schemas.microsoft.com/office/drawing/2014/main" id="{08FAD079-427E-474D-9C43-D2BFB63EF494}"/>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Tess Gray, Ari Dunn</a:t>
            </a:r>
          </a:p>
        </p:txBody>
      </p:sp>
      <p:sp>
        <p:nvSpPr>
          <p:cNvPr id="5" name="expertise">
            <a:extLst xmlns:a="http://schemas.openxmlformats.org/drawingml/2006/main">
              <a:ext uri="{FF2B5EF4-FFF2-40B4-BE49-F238E27FC236}">
                <a16:creationId xmlns:a16="http://schemas.microsoft.com/office/drawing/2014/main" id="{0398FB20-D98F-41E2-9459-CC3CFA82A7FF}"/>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Multi-agent Systems</a:t>
            </a:r>
          </a:p>
        </p:txBody>
      </p:sp>
      <p:sp>
        <p:nvSpPr>
          <p:cNvPr id="6" name="manuscript">
            <a:extLst xmlns:a="http://schemas.openxmlformats.org/drawingml/2006/main">
              <a:ext uri="{FF2B5EF4-FFF2-40B4-BE49-F238E27FC236}">
                <a16:creationId xmlns:a16="http://schemas.microsoft.com/office/drawing/2014/main" id="{B2FED87B-1C6B-4F41-9316-E9A6076052D5}"/>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paper proposes the discrete-time update x[n+1] = Wx[n] below. It claims that row sums equal to one guarantee convergence to the arithmetic mean of the initial states. Preserving that mean for every initial state is the method's sole claimed advance. For initial values (0, 3), the authors cite agreement between the agents as sufficient evidence of average consensus.</a:t>
            </a:r>
          </a:p>
        </p:txBody>
      </p:sp>
      <p:sp>
        <p:nvSpPr>
          <p:cNvPr id="7" name="equation">
            <a:extLst xmlns:a="http://schemas.openxmlformats.org/drawingml/2006/main">
              <a:ext uri="{FF2B5EF4-FFF2-40B4-BE49-F238E27FC236}">
                <a16:creationId xmlns:a16="http://schemas.microsoft.com/office/drawing/2014/main" id="{D6D4FE4A-96FC-4211-B351-E905A5B1B043}"/>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W = [[0.5, 0.5], [1, 0]],     x[0] = [0, 3]ᵀ</a:t>
            </a:r>
          </a:p>
        </p:txBody>
      </p:sp>
      <p:sp>
        <p:nvSpPr>
          <p:cNvPr id="8" name="prompt">
            <a:extLst xmlns:a="http://schemas.openxmlformats.org/drawingml/2006/main">
              <a:ext uri="{FF2B5EF4-FFF2-40B4-BE49-F238E27FC236}">
                <a16:creationId xmlns:a16="http://schemas.microsoft.com/office/drawing/2014/main" id="{B5AAAD25-4EC5-4485-89ED-2B9203A0E884}"/>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7010234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97DC94C8-F3CE-44B9-B385-5074211D4B09}"/>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74988686-D594-4B1D-AD54-F747A1BCB3AC}"/>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M13  /  ANSWER</a:t>
            </a:r>
          </a:p>
        </p:txBody>
      </p:sp>
      <p:sp>
        <p:nvSpPr>
          <p:cNvPr id="3" name="title">
            <a:extLst xmlns:a="http://schemas.openxmlformats.org/drawingml/2006/main">
              <a:ext uri="{FF2B5EF4-FFF2-40B4-BE49-F238E27FC236}">
                <a16:creationId xmlns:a16="http://schemas.microsoft.com/office/drawing/2014/main" id="{77A2D232-8EB2-4016-8FD3-0B75C147DEE1}"/>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One Step Together</a:t>
            </a:r>
          </a:p>
        </p:txBody>
      </p:sp>
      <p:sp>
        <p:nvSpPr>
          <p:cNvPr id="4" name="verdict">
            <a:extLst xmlns:a="http://schemas.openxmlformats.org/drawingml/2006/main">
              <a:ext uri="{FF2B5EF4-FFF2-40B4-BE49-F238E27FC236}">
                <a16:creationId xmlns:a16="http://schemas.microsoft.com/office/drawing/2014/main" id="{B9D257EE-3659-4D18-9EF7-80B018F8D891}"/>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E2730"/>
                </a:solidFill>
                <a:latin typeface="DejaVu Sans"/>
                <a:ea typeface="DejaVu Sans"/>
                <a:cs typeface="DejaVu Sans"/>
              </a:defRPr>
            </a:pPr>
            <a:r>
              <a:rPr sz="2250" b="1">
                <a:solidFill>
                  <a:srgbClr val="9E2730"/>
                </a:solidFill>
                <a:latin typeface="DejaVu Sans"/>
                <a:ea typeface="DejaVu Sans"/>
                <a:cs typeface="DejaVu Sans"/>
              </a:rPr>
              <a:t>REJECT</a:t>
            </a:r>
          </a:p>
        </p:txBody>
      </p:sp>
      <p:sp>
        <p:nvSpPr>
          <p:cNvPr id="5" name="reason-label">
            <a:extLst xmlns:a="http://schemas.openxmlformats.org/drawingml/2006/main">
              <a:ext uri="{FF2B5EF4-FFF2-40B4-BE49-F238E27FC236}">
                <a16:creationId xmlns:a16="http://schemas.microsoft.com/office/drawing/2014/main" id="{69359DEE-C04F-4B4A-B4A6-B68A3462B389}"/>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EFB7E5A6-9A3E-43BA-BDDE-246D175437D4}"/>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  /  Stability/Performance</a:t>
            </a:r>
          </a:p>
        </p:txBody>
      </p:sp>
      <p:sp>
        <p:nvSpPr>
          <p:cNvPr id="7" name="explanation">
            <a:extLst xmlns:a="http://schemas.openxmlformats.org/drawingml/2006/main">
              <a:ext uri="{FF2B5EF4-FFF2-40B4-BE49-F238E27FC236}">
                <a16:creationId xmlns:a16="http://schemas.microsoft.com/office/drawing/2014/main" id="{C75A14FA-90FC-48B9-932C-D322B8B4FEFA}"/>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This W converges to consensus at a weighted mean: (2/3)x₁[0] + (1/3)x₂[0] = 1. The arithmetic mean is 1.5. Row sums of one do not preserve the sum of states. Here the column sums are 1.5 and 0.5.</a:t>
            </a:r>
          </a:p>
        </p:txBody>
      </p:sp>
      <p:sp>
        <p:nvSpPr>
          <p:cNvPr id="8" name="repair-label">
            <a:extLst xmlns:a="http://schemas.openxmlformats.org/drawingml/2006/main">
              <a:ext uri="{FF2B5EF4-FFF2-40B4-BE49-F238E27FC236}">
                <a16:creationId xmlns:a16="http://schemas.microsoft.com/office/drawing/2014/main" id="{E702F7F0-C09C-4037-9D62-089C28AA1A93}"/>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FUNDAMENTAL FLAW</a:t>
            </a:r>
          </a:p>
        </p:txBody>
      </p:sp>
      <p:sp>
        <p:nvSpPr>
          <p:cNvPr id="9" name="repair">
            <a:extLst xmlns:a="http://schemas.openxmlformats.org/drawingml/2006/main">
              <a:ext uri="{FF2B5EF4-FFF2-40B4-BE49-F238E27FC236}">
                <a16:creationId xmlns:a16="http://schemas.microsoft.com/office/drawing/2014/main" id="{D730DC43-2BFC-4B47-B205-494330A99E4E}"/>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claimed average-preservation property fails for the explicit example. A different update matrix or a weighted-mean claim replaces the sole contribution.</a:t>
            </a:r>
          </a:p>
        </p:txBody>
      </p:sp>
      <p:sp>
        <p:nvSpPr>
          <p:cNvPr id="10" name="discussion">
            <a:extLst xmlns:a="http://schemas.openxmlformats.org/drawingml/2006/main">
              <a:ext uri="{FF2B5EF4-FFF2-40B4-BE49-F238E27FC236}">
                <a16:creationId xmlns:a16="http://schemas.microsoft.com/office/drawing/2014/main" id="{0949C69E-A16B-4BC8-9464-BAAC97BC466A}"/>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Which matrix condition would preserve the sum at each step?</a:t>
            </a:r>
          </a:p>
        </p:txBody>
      </p:sp>
    </p:spTree>
    <p:extLst>
      <p:ext uri="{BB962C8B-B14F-4D97-AF65-F5344CB8AC3E}">
        <p14:creationId xmlns:p14="http://schemas.microsoft.com/office/powerpoint/2010/main" val="175028049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38A7748A-04E8-4D70-BB69-26A73B6D7F55}"/>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0CD808E9-ED63-4524-9BF1-C739D7ECFD27}"/>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M14  /  STANDARD</a:t>
            </a:r>
          </a:p>
        </p:txBody>
      </p:sp>
      <p:sp>
        <p:nvSpPr>
          <p:cNvPr id="3" name="title">
            <a:extLst xmlns:a="http://schemas.openxmlformats.org/drawingml/2006/main">
              <a:ext uri="{FF2B5EF4-FFF2-40B4-BE49-F238E27FC236}">
                <a16:creationId xmlns:a16="http://schemas.microsoft.com/office/drawing/2014/main" id="{599DBE16-1955-499C-A4F6-8A5506E69741}"/>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Smooth on Screen</a:t>
            </a:r>
          </a:p>
        </p:txBody>
      </p:sp>
      <p:sp>
        <p:nvSpPr>
          <p:cNvPr id="4" name="authors">
            <a:extLst xmlns:a="http://schemas.openxmlformats.org/drawingml/2006/main">
              <a:ext uri="{FF2B5EF4-FFF2-40B4-BE49-F238E27FC236}">
                <a16:creationId xmlns:a16="http://schemas.microsoft.com/office/drawing/2014/main" id="{853012B3-E87B-4C4D-AA35-4828B9C54EB8}"/>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Zoe King, Hugo Moss</a:t>
            </a:r>
          </a:p>
        </p:txBody>
      </p:sp>
      <p:sp>
        <p:nvSpPr>
          <p:cNvPr id="5" name="expertise">
            <a:extLst xmlns:a="http://schemas.openxmlformats.org/drawingml/2006/main">
              <a:ext uri="{FF2B5EF4-FFF2-40B4-BE49-F238E27FC236}">
                <a16:creationId xmlns:a16="http://schemas.microsoft.com/office/drawing/2014/main" id="{A5CBC9A7-7677-4012-8AC6-D277A01B33C4}"/>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6C762427-3B58-498D-B841-C19E26DFC2BE}"/>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tuning procedure produces tracking RMSE 0.8 in one noisy simulation, versus 1.0 for a baseline. Both use the same plant and initial condition but different noise realizations. The paper claims lower expected RMSE in general. Its contribution includes a fully specified tuning algorithm. It reports no repeated trials or uncertainty estimates.</a:t>
            </a:r>
          </a:p>
        </p:txBody>
      </p:sp>
      <p:sp>
        <p:nvSpPr>
          <p:cNvPr id="7" name="equation">
            <a:extLst xmlns:a="http://schemas.openxmlformats.org/drawingml/2006/main">
              <a:ext uri="{FF2B5EF4-FFF2-40B4-BE49-F238E27FC236}">
                <a16:creationId xmlns:a16="http://schemas.microsoft.com/office/drawing/2014/main" id="{EB678CB1-D819-4AC4-ABD9-04B5BD18DA7C}"/>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One run each: proposed RMSE 0.8     baseline RMSE 1.0</a:t>
            </a:r>
          </a:p>
        </p:txBody>
      </p:sp>
      <p:sp>
        <p:nvSpPr>
          <p:cNvPr id="8" name="prompt">
            <a:extLst xmlns:a="http://schemas.openxmlformats.org/drawingml/2006/main">
              <a:ext uri="{FF2B5EF4-FFF2-40B4-BE49-F238E27FC236}">
                <a16:creationId xmlns:a16="http://schemas.microsoft.com/office/drawing/2014/main" id="{27C015CC-D9DA-4479-849F-387DEC698420}"/>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26357478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7B17B6F6-6C13-4084-A177-D1A20C7DB280}"/>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A7B44A18-708A-472C-AED8-D1294DA02BFD}"/>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M14  /  ANSWER</a:t>
            </a:r>
          </a:p>
        </p:txBody>
      </p:sp>
      <p:sp>
        <p:nvSpPr>
          <p:cNvPr id="3" name="title">
            <a:extLst xmlns:a="http://schemas.openxmlformats.org/drawingml/2006/main">
              <a:ext uri="{FF2B5EF4-FFF2-40B4-BE49-F238E27FC236}">
                <a16:creationId xmlns:a16="http://schemas.microsoft.com/office/drawing/2014/main" id="{B6E9A3C9-6D76-443F-A0EB-4A16C161B909}"/>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Smooth on Screen</a:t>
            </a:r>
          </a:p>
        </p:txBody>
      </p:sp>
      <p:sp>
        <p:nvSpPr>
          <p:cNvPr id="4" name="verdict">
            <a:extLst xmlns:a="http://schemas.openxmlformats.org/drawingml/2006/main">
              <a:ext uri="{FF2B5EF4-FFF2-40B4-BE49-F238E27FC236}">
                <a16:creationId xmlns:a16="http://schemas.microsoft.com/office/drawing/2014/main" id="{78E10FDE-EEF3-4C91-9726-466C3665EF41}"/>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25C00"/>
                </a:solidFill>
                <a:latin typeface="DejaVu Sans"/>
                <a:ea typeface="DejaVu Sans"/>
                <a:cs typeface="DejaVu Sans"/>
              </a:defRPr>
            </a:pPr>
            <a:r>
              <a:rPr sz="2250" b="1">
                <a:solidFill>
                  <a:srgbClr val="925C00"/>
                </a:solidFill>
                <a:latin typeface="DejaVu Sans"/>
                <a:ea typeface="DejaVu Sans"/>
                <a:cs typeface="DejaVu Sans"/>
              </a:rPr>
              <a:t>REVISE</a:t>
            </a:r>
          </a:p>
        </p:txBody>
      </p:sp>
      <p:sp>
        <p:nvSpPr>
          <p:cNvPr id="5" name="reason-label">
            <a:extLst xmlns:a="http://schemas.openxmlformats.org/drawingml/2006/main">
              <a:ext uri="{FF2B5EF4-FFF2-40B4-BE49-F238E27FC236}">
                <a16:creationId xmlns:a16="http://schemas.microsoft.com/office/drawing/2014/main" id="{D0CABAE0-D947-4146-8AA9-D736CEBCC8A7}"/>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7B4C0C24-8770-45B4-B397-E8232B2E566A}"/>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Evidence/Validation</a:t>
            </a:r>
          </a:p>
        </p:txBody>
      </p:sp>
      <p:sp>
        <p:nvSpPr>
          <p:cNvPr id="7" name="explanation">
            <a:extLst xmlns:a="http://schemas.openxmlformats.org/drawingml/2006/main">
              <a:ext uri="{FF2B5EF4-FFF2-40B4-BE49-F238E27FC236}">
                <a16:creationId xmlns:a16="http://schemas.microsoft.com/office/drawing/2014/main" id="{19884042-C620-4607-A968-EEA68CA31D14}"/>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One noisy run per controller cannot establish a general reduction in expected error, especially with different noise realizations. The algorithm remains a usable contribution, and the comparative claim can be evaluated with an appropriate experiment.</a:t>
            </a:r>
          </a:p>
        </p:txBody>
      </p:sp>
      <p:sp>
        <p:nvSpPr>
          <p:cNvPr id="8" name="repair-label">
            <a:extLst xmlns:a="http://schemas.openxmlformats.org/drawingml/2006/main">
              <a:ext uri="{FF2B5EF4-FFF2-40B4-BE49-F238E27FC236}">
                <a16:creationId xmlns:a16="http://schemas.microsoft.com/office/drawing/2014/main" id="{8C6811D5-E68C-49E9-AD6B-E5DA157EE432}"/>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REPAIR</a:t>
            </a:r>
          </a:p>
        </p:txBody>
      </p:sp>
      <p:sp>
        <p:nvSpPr>
          <p:cNvPr id="9" name="repair">
            <a:extLst xmlns:a="http://schemas.openxmlformats.org/drawingml/2006/main">
              <a:ext uri="{FF2B5EF4-FFF2-40B4-BE49-F238E27FC236}">
                <a16:creationId xmlns:a16="http://schemas.microsoft.com/office/drawing/2014/main" id="{03BD315B-9ABB-4207-9B04-0EB0BEDC5BE5}"/>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Run repeated paired comparisons with common conditions and noise realizations, report variability, and align the conclusion with the resulting evidence.</a:t>
            </a:r>
          </a:p>
        </p:txBody>
      </p:sp>
      <p:sp>
        <p:nvSpPr>
          <p:cNvPr id="10" name="discussion">
            <a:extLst xmlns:a="http://schemas.openxmlformats.org/drawingml/2006/main">
              <a:ext uri="{FF2B5EF4-FFF2-40B4-BE49-F238E27FC236}">
                <a16:creationId xmlns:a16="http://schemas.microsoft.com/office/drawing/2014/main" id="{31BB265C-5057-4132-8009-D16D076358F1}"/>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Why are matched noise realizations useful in a comparison?</a:t>
            </a:r>
          </a:p>
        </p:txBody>
      </p:sp>
    </p:spTree>
    <p:extLst>
      <p:ext uri="{BB962C8B-B14F-4D97-AF65-F5344CB8AC3E}">
        <p14:creationId xmlns:p14="http://schemas.microsoft.com/office/powerpoint/2010/main" val="30568369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45D1A641-058F-40EB-B306-6309F489C23C}"/>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0A5A22A4-FC83-4AA2-B885-5AC7E902537A}"/>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M15  /  GUIDED</a:t>
            </a:r>
          </a:p>
        </p:txBody>
      </p:sp>
      <p:sp>
        <p:nvSpPr>
          <p:cNvPr id="3" name="title">
            <a:extLst xmlns:a="http://schemas.openxmlformats.org/drawingml/2006/main">
              <a:ext uri="{FF2B5EF4-FFF2-40B4-BE49-F238E27FC236}">
                <a16:creationId xmlns:a16="http://schemas.microsoft.com/office/drawing/2014/main" id="{445603D1-E9E7-4A86-869C-2498A66294C8}"/>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A Fair Trial</a:t>
            </a:r>
          </a:p>
        </p:txBody>
      </p:sp>
      <p:sp>
        <p:nvSpPr>
          <p:cNvPr id="4" name="authors">
            <a:extLst xmlns:a="http://schemas.openxmlformats.org/drawingml/2006/main">
              <a:ext uri="{FF2B5EF4-FFF2-40B4-BE49-F238E27FC236}">
                <a16:creationId xmlns:a16="http://schemas.microsoft.com/office/drawing/2014/main" id="{1E11DD01-9E5D-4777-9171-ED5CB145A4FB}"/>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Ari Dunn, Nia Volt</a:t>
            </a:r>
          </a:p>
        </p:txBody>
      </p:sp>
      <p:sp>
        <p:nvSpPr>
          <p:cNvPr id="5" name="expertise">
            <a:extLst xmlns:a="http://schemas.openxmlformats.org/drawingml/2006/main">
              <a:ext uri="{FF2B5EF4-FFF2-40B4-BE49-F238E27FC236}">
                <a16:creationId xmlns:a16="http://schemas.microsoft.com/office/drawing/2014/main" id="{E27CF54A-6A5A-44EA-875F-42755C68F63C}"/>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73CAEB8E-2236-4829-B116-FCFFEB414503}"/>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Two controllers complete all 30 trials on the same specified set of test conditions. Each paired trial uses the same starting state and disturbance for both controllers. The paper provides every settling time and reports medians of 20 s for the proposed controller and 24 s for the baseline. It claims only a lower median settling time on this test set and explicitly leaves other plants and conditions untested.</a:t>
            </a:r>
          </a:p>
        </p:txBody>
      </p:sp>
      <p:sp>
        <p:nvSpPr>
          <p:cNvPr id="7" name="equation">
            <a:extLst xmlns:a="http://schemas.openxmlformats.org/drawingml/2006/main">
              <a:ext uri="{FF2B5EF4-FFF2-40B4-BE49-F238E27FC236}">
                <a16:creationId xmlns:a16="http://schemas.microsoft.com/office/drawing/2014/main" id="{A6C30605-899F-4CA7-880D-BD1DE970FF49}"/>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30 trials each. Median settling time: 20 s versus 24 s.</a:t>
            </a:r>
          </a:p>
        </p:txBody>
      </p:sp>
      <p:sp>
        <p:nvSpPr>
          <p:cNvPr id="8" name="prompt">
            <a:extLst xmlns:a="http://schemas.openxmlformats.org/drawingml/2006/main">
              <a:ext uri="{FF2B5EF4-FFF2-40B4-BE49-F238E27FC236}">
                <a16:creationId xmlns:a16="http://schemas.microsoft.com/office/drawing/2014/main" id="{77D35632-D5A3-4D99-B5EA-5CB7772E87A1}"/>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30788022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1F1F75B2-B44F-4329-B162-7A69769F1443}"/>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BF315E65-A568-47D1-AAFD-A27282A69569}"/>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M15  /  ANSWER</a:t>
            </a:r>
          </a:p>
        </p:txBody>
      </p:sp>
      <p:sp>
        <p:nvSpPr>
          <p:cNvPr id="3" name="title">
            <a:extLst xmlns:a="http://schemas.openxmlformats.org/drawingml/2006/main">
              <a:ext uri="{FF2B5EF4-FFF2-40B4-BE49-F238E27FC236}">
                <a16:creationId xmlns:a16="http://schemas.microsoft.com/office/drawing/2014/main" id="{0959CB48-9BC6-4232-97C6-B5DA81DFADB0}"/>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A Fair Trial</a:t>
            </a:r>
          </a:p>
        </p:txBody>
      </p:sp>
      <p:sp>
        <p:nvSpPr>
          <p:cNvPr id="4" name="verdict">
            <a:extLst xmlns:a="http://schemas.openxmlformats.org/drawingml/2006/main">
              <a:ext uri="{FF2B5EF4-FFF2-40B4-BE49-F238E27FC236}">
                <a16:creationId xmlns:a16="http://schemas.microsoft.com/office/drawing/2014/main" id="{7959C60B-D83B-46A7-916A-E5574B0F3CA3}"/>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76344"/>
                </a:solidFill>
                <a:latin typeface="DejaVu Sans"/>
                <a:ea typeface="DejaVu Sans"/>
                <a:cs typeface="DejaVu Sans"/>
              </a:defRPr>
            </a:pPr>
            <a:r>
              <a:rPr sz="2250" b="1">
                <a:solidFill>
                  <a:srgbClr val="176344"/>
                </a:solidFill>
                <a:latin typeface="DejaVu Sans"/>
                <a:ea typeface="DejaVu Sans"/>
                <a:cs typeface="DejaVu Sans"/>
              </a:rPr>
              <a:t>ACCEPT</a:t>
            </a:r>
          </a:p>
        </p:txBody>
      </p:sp>
      <p:sp>
        <p:nvSpPr>
          <p:cNvPr id="5" name="reason-label">
            <a:extLst xmlns:a="http://schemas.openxmlformats.org/drawingml/2006/main">
              <a:ext uri="{FF2B5EF4-FFF2-40B4-BE49-F238E27FC236}">
                <a16:creationId xmlns:a16="http://schemas.microsoft.com/office/drawing/2014/main" id="{C8970753-DDF7-4AA9-85E0-250F651B7EFF}"/>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AAFCE65F-8DD6-4A4C-930E-F020B157796E}"/>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Evidence/Validation</a:t>
            </a:r>
          </a:p>
        </p:txBody>
      </p:sp>
      <p:sp>
        <p:nvSpPr>
          <p:cNvPr id="7" name="explanation">
            <a:extLst xmlns:a="http://schemas.openxmlformats.org/drawingml/2006/main">
              <a:ext uri="{FF2B5EF4-FFF2-40B4-BE49-F238E27FC236}">
                <a16:creationId xmlns:a16="http://schemas.microsoft.com/office/drawing/2014/main" id="{DAEC4FBE-84C5-42FC-99AF-E7B008795EEC}"/>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complete paired data and reported medians support the limited descriptive claim about this test set. The paper does not turn that observed comparison into an unsupported universal guarantee or a claim about population means.</a:t>
            </a:r>
          </a:p>
        </p:txBody>
      </p:sp>
      <p:sp>
        <p:nvSpPr>
          <p:cNvPr id="8" name="repair-label">
            <a:extLst xmlns:a="http://schemas.openxmlformats.org/drawingml/2006/main">
              <a:ext uri="{FF2B5EF4-FFF2-40B4-BE49-F238E27FC236}">
                <a16:creationId xmlns:a16="http://schemas.microsoft.com/office/drawing/2014/main" id="{56608467-D113-47A6-B070-5C25A48E82EA}"/>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BASIS FOR ACCEPTANCE</a:t>
            </a:r>
          </a:p>
        </p:txBody>
      </p:sp>
      <p:sp>
        <p:nvSpPr>
          <p:cNvPr id="9" name="repair">
            <a:extLst xmlns:a="http://schemas.openxmlformats.org/drawingml/2006/main">
              <a:ext uri="{FF2B5EF4-FFF2-40B4-BE49-F238E27FC236}">
                <a16:creationId xmlns:a16="http://schemas.microsoft.com/office/drawing/2014/main" id="{60F11C5B-AC07-4C63-BB42-6867CC6FBFA4}"/>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evidence matches the comparison and the conclusion stays within the evaluated conditions.</a:t>
            </a:r>
          </a:p>
        </p:txBody>
      </p:sp>
      <p:sp>
        <p:nvSpPr>
          <p:cNvPr id="10" name="discussion">
            <a:extLst xmlns:a="http://schemas.openxmlformats.org/drawingml/2006/main">
              <a:ext uri="{FF2B5EF4-FFF2-40B4-BE49-F238E27FC236}">
                <a16:creationId xmlns:a16="http://schemas.microsoft.com/office/drawing/2014/main" id="{41DC4E52-E107-40F3-91DA-2807B1124175}"/>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What additional evidence would support a claim about other plants?</a:t>
            </a:r>
          </a:p>
        </p:txBody>
      </p:sp>
    </p:spTree>
    <p:extLst>
      <p:ext uri="{BB962C8B-B14F-4D97-AF65-F5344CB8AC3E}">
        <p14:creationId xmlns:p14="http://schemas.microsoft.com/office/powerpoint/2010/main" val="196250954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73C61FB0-C104-4CB9-9750-DDE93C093CB0}"/>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3021A64B-77E7-4015-A9C6-AC1A460B345A}"/>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M16  /  GUIDED</a:t>
            </a:r>
          </a:p>
        </p:txBody>
      </p:sp>
      <p:sp>
        <p:nvSpPr>
          <p:cNvPr id="3" name="title">
            <a:extLst xmlns:a="http://schemas.openxmlformats.org/drawingml/2006/main">
              <a:ext uri="{FF2B5EF4-FFF2-40B4-BE49-F238E27FC236}">
                <a16:creationId xmlns:a16="http://schemas.microsoft.com/office/drawing/2014/main" id="{791BC228-ADC6-41CB-9861-1BF10205DABB}"/>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Timing the Trials</a:t>
            </a:r>
          </a:p>
        </p:txBody>
      </p:sp>
      <p:sp>
        <p:nvSpPr>
          <p:cNvPr id="4" name="authors">
            <a:extLst xmlns:a="http://schemas.openxmlformats.org/drawingml/2006/main">
              <a:ext uri="{FF2B5EF4-FFF2-40B4-BE49-F238E27FC236}">
                <a16:creationId xmlns:a16="http://schemas.microsoft.com/office/drawing/2014/main" id="{62CA0E8E-C5F2-4FC6-92B4-37EC8CF805E2}"/>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Theo Reed, Hugo Moss</a:t>
            </a:r>
          </a:p>
        </p:txBody>
      </p:sp>
      <p:sp>
        <p:nvSpPr>
          <p:cNvPr id="5" name="expertise">
            <a:extLst xmlns:a="http://schemas.openxmlformats.org/drawingml/2006/main">
              <a:ext uri="{FF2B5EF4-FFF2-40B4-BE49-F238E27FC236}">
                <a16:creationId xmlns:a16="http://schemas.microsoft.com/office/drawing/2014/main" id="{613C34FD-3540-49C8-9EB1-EFE97B0DC35D}"/>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8BCAD4CD-8988-4ACB-A09B-5AC31D08F31A}"/>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Two controllers face the same ten tests with a 60 s timeout. The proposed controller finishes twice in 8 s and times out eight times. The baseline finishes every test in 12 s. After discarding timeouts, the paper claims greater reliability and faster completion across the full benchmark. This joint superiority claim is its sole contribution.</a:t>
            </a:r>
          </a:p>
        </p:txBody>
      </p:sp>
      <p:sp>
        <p:nvSpPr>
          <p:cNvPr id="7" name="equation">
            <a:extLst xmlns:a="http://schemas.openxmlformats.org/drawingml/2006/main">
              <a:ext uri="{FF2B5EF4-FFF2-40B4-BE49-F238E27FC236}">
                <a16:creationId xmlns:a16="http://schemas.microsoft.com/office/drawing/2014/main" id="{0C81C63C-4454-465A-831A-F30153F7DAA1}"/>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Proposed: 2/10 successes. Baseline: 10/10 successes.</a:t>
            </a:r>
          </a:p>
        </p:txBody>
      </p:sp>
      <p:sp>
        <p:nvSpPr>
          <p:cNvPr id="8" name="prompt">
            <a:extLst xmlns:a="http://schemas.openxmlformats.org/drawingml/2006/main">
              <a:ext uri="{FF2B5EF4-FFF2-40B4-BE49-F238E27FC236}">
                <a16:creationId xmlns:a16="http://schemas.microsoft.com/office/drawing/2014/main" id="{4DC7A52C-CCA4-421F-BC7F-C0B8D1C74940}"/>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5689929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1141A268-E55A-478A-8545-BD4FD4CA1C4B}"/>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7384EAF0-F2BE-4D71-B122-2A5AF1EE245B}"/>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M16  /  ANSWER</a:t>
            </a:r>
          </a:p>
        </p:txBody>
      </p:sp>
      <p:sp>
        <p:nvSpPr>
          <p:cNvPr id="3" name="title">
            <a:extLst xmlns:a="http://schemas.openxmlformats.org/drawingml/2006/main">
              <a:ext uri="{FF2B5EF4-FFF2-40B4-BE49-F238E27FC236}">
                <a16:creationId xmlns:a16="http://schemas.microsoft.com/office/drawing/2014/main" id="{96373120-8D63-495E-B0EE-E29134413FF9}"/>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Timing the Trials</a:t>
            </a:r>
          </a:p>
        </p:txBody>
      </p:sp>
      <p:sp>
        <p:nvSpPr>
          <p:cNvPr id="4" name="verdict">
            <a:extLst xmlns:a="http://schemas.openxmlformats.org/drawingml/2006/main">
              <a:ext uri="{FF2B5EF4-FFF2-40B4-BE49-F238E27FC236}">
                <a16:creationId xmlns:a16="http://schemas.microsoft.com/office/drawing/2014/main" id="{B495C432-17A8-4DF0-B85B-383C532C9192}"/>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E2730"/>
                </a:solidFill>
                <a:latin typeface="DejaVu Sans"/>
                <a:ea typeface="DejaVu Sans"/>
                <a:cs typeface="DejaVu Sans"/>
              </a:defRPr>
            </a:pPr>
            <a:r>
              <a:rPr sz="2250" b="1">
                <a:solidFill>
                  <a:srgbClr val="9E2730"/>
                </a:solidFill>
                <a:latin typeface="DejaVu Sans"/>
                <a:ea typeface="DejaVu Sans"/>
                <a:cs typeface="DejaVu Sans"/>
              </a:rPr>
              <a:t>REJECT</a:t>
            </a:r>
          </a:p>
        </p:txBody>
      </p:sp>
      <p:sp>
        <p:nvSpPr>
          <p:cNvPr id="5" name="reason-label">
            <a:extLst xmlns:a="http://schemas.openxmlformats.org/drawingml/2006/main">
              <a:ext uri="{FF2B5EF4-FFF2-40B4-BE49-F238E27FC236}">
                <a16:creationId xmlns:a16="http://schemas.microsoft.com/office/drawing/2014/main" id="{AD572C25-50DB-44AB-B0DA-0D14482F8CA0}"/>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5031A964-061F-437A-85C3-22340C43B388}"/>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Evidence/Validation</a:t>
            </a:r>
          </a:p>
        </p:txBody>
      </p:sp>
      <p:sp>
        <p:nvSpPr>
          <p:cNvPr id="7" name="explanation">
            <a:extLst xmlns:a="http://schemas.openxmlformats.org/drawingml/2006/main">
              <a:ext uri="{FF2B5EF4-FFF2-40B4-BE49-F238E27FC236}">
                <a16:creationId xmlns:a16="http://schemas.microsoft.com/office/drawing/2014/main" id="{E0A4808D-1287-4FCE-A5C6-239BF90C607C}"/>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stated success rates directly contradict the reliability claim. Comparing times only after discarding eight failures also fails to establish speed across the full benchmark. The problem is contradicted evidence, rather than merely an absent experiment.</a:t>
            </a:r>
          </a:p>
        </p:txBody>
      </p:sp>
      <p:sp>
        <p:nvSpPr>
          <p:cNvPr id="8" name="repair-label">
            <a:extLst xmlns:a="http://schemas.openxmlformats.org/drawingml/2006/main">
              <a:ext uri="{FF2B5EF4-FFF2-40B4-BE49-F238E27FC236}">
                <a16:creationId xmlns:a16="http://schemas.microsoft.com/office/drawing/2014/main" id="{04AA2070-D434-4AFF-A2B8-F0EA5C7FD049}"/>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FUNDAMENTAL FLAW</a:t>
            </a:r>
          </a:p>
        </p:txBody>
      </p:sp>
      <p:sp>
        <p:nvSpPr>
          <p:cNvPr id="9" name="repair">
            <a:extLst xmlns:a="http://schemas.openxmlformats.org/drawingml/2006/main">
              <a:ext uri="{FF2B5EF4-FFF2-40B4-BE49-F238E27FC236}">
                <a16:creationId xmlns:a16="http://schemas.microsoft.com/office/drawing/2014/main" id="{1B82F582-0CA2-4DEC-ADFD-8723386A7A45}"/>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An honest report removes the paper's sole joint-superiority result. Extra wording cannot make the existing success counts support that claim.</a:t>
            </a:r>
          </a:p>
        </p:txBody>
      </p:sp>
      <p:sp>
        <p:nvSpPr>
          <p:cNvPr id="10" name="discussion">
            <a:extLst xmlns:a="http://schemas.openxmlformats.org/drawingml/2006/main">
              <a:ext uri="{FF2B5EF4-FFF2-40B4-BE49-F238E27FC236}">
                <a16:creationId xmlns:a16="http://schemas.microsoft.com/office/drawing/2014/main" id="{40B1FE1E-6138-45EE-9C13-9E4733B692FC}"/>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How should a benchmark report both completion times and failures?</a:t>
            </a:r>
          </a:p>
        </p:txBody>
      </p:sp>
    </p:spTree>
    <p:extLst>
      <p:ext uri="{BB962C8B-B14F-4D97-AF65-F5344CB8AC3E}">
        <p14:creationId xmlns:p14="http://schemas.microsoft.com/office/powerpoint/2010/main" val="209533696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9C871305-ABA8-4FDC-ADB6-F9838DCD9B35}"/>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71AAA3B7-0C06-4C9F-A2FC-4D2D8ACF0C36}"/>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M17  /  GUIDED</a:t>
            </a:r>
          </a:p>
        </p:txBody>
      </p:sp>
      <p:sp>
        <p:nvSpPr>
          <p:cNvPr id="3" name="title">
            <a:extLst xmlns:a="http://schemas.openxmlformats.org/drawingml/2006/main">
              <a:ext uri="{FF2B5EF4-FFF2-40B4-BE49-F238E27FC236}">
                <a16:creationId xmlns:a16="http://schemas.microsoft.com/office/drawing/2014/main" id="{207B84FA-C0E7-4221-A692-E7C919AE65EE}"/>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A Recipe to Repeat</a:t>
            </a:r>
          </a:p>
        </p:txBody>
      </p:sp>
      <p:sp>
        <p:nvSpPr>
          <p:cNvPr id="4" name="authors">
            <a:extLst xmlns:a="http://schemas.openxmlformats.org/drawingml/2006/main">
              <a:ext uri="{FF2B5EF4-FFF2-40B4-BE49-F238E27FC236}">
                <a16:creationId xmlns:a16="http://schemas.microsoft.com/office/drawing/2014/main" id="{28AC9B4A-BEAE-4AA5-BE51-112B939E3125}"/>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Mira Chen, Zoe King</a:t>
            </a:r>
          </a:p>
        </p:txBody>
      </p:sp>
      <p:sp>
        <p:nvSpPr>
          <p:cNvPr id="5" name="expertise">
            <a:extLst xmlns:a="http://schemas.openxmlformats.org/drawingml/2006/main">
              <a:ext uri="{FF2B5EF4-FFF2-40B4-BE49-F238E27FC236}">
                <a16:creationId xmlns:a16="http://schemas.microsoft.com/office/drawing/2014/main" id="{DCBD0B3C-7EC4-4B95-96AA-B166FA254F07}"/>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Linear Systems</a:t>
            </a:r>
          </a:p>
        </p:txBody>
      </p:sp>
      <p:sp>
        <p:nvSpPr>
          <p:cNvPr id="6" name="manuscript">
            <a:extLst xmlns:a="http://schemas.openxmlformats.org/drawingml/2006/main">
              <a:ext uri="{FF2B5EF4-FFF2-40B4-BE49-F238E27FC236}">
                <a16:creationId xmlns:a16="http://schemas.microsoft.com/office/drawing/2014/main" id="{2E6A0996-D6BE-4E09-B627-57511B659EE7}"/>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teaching paper gives a complete scalar simulation recipe. Set x[0] = 8 and u[n] = −0.5x[n]. At each step compute x[n+1] = x[n] + u[n], using the current state. Use exact arithmetic with no noise. The authors report x[1] = 4, x[2] = 2, and x[3] = 1, and claim that readers can reproduce these values from the supplied instructions.</a:t>
            </a:r>
          </a:p>
        </p:txBody>
      </p:sp>
      <p:sp>
        <p:nvSpPr>
          <p:cNvPr id="7" name="equation">
            <a:extLst xmlns:a="http://schemas.openxmlformats.org/drawingml/2006/main">
              <a:ext uri="{FF2B5EF4-FFF2-40B4-BE49-F238E27FC236}">
                <a16:creationId xmlns:a16="http://schemas.microsoft.com/office/drawing/2014/main" id="{EDB8D806-A8F7-4BD6-B740-84FAEA12BF6C}"/>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x[0] = 8     u[n] = −0.5x[n]     x[n+1] = x[n] + u[n]</a:t>
            </a:r>
          </a:p>
        </p:txBody>
      </p:sp>
      <p:sp>
        <p:nvSpPr>
          <p:cNvPr id="8" name="prompt">
            <a:extLst xmlns:a="http://schemas.openxmlformats.org/drawingml/2006/main">
              <a:ext uri="{FF2B5EF4-FFF2-40B4-BE49-F238E27FC236}">
                <a16:creationId xmlns:a16="http://schemas.microsoft.com/office/drawing/2014/main" id="{2DD31254-2896-46A4-82D5-10ABEDB75886}"/>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95541785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89C46202-55E7-4E5A-A858-9FC4FB9C6B21}"/>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5D2FD15B-152E-4C61-A501-5DC5623A1F1B}"/>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M17  /  ANSWER</a:t>
            </a:r>
          </a:p>
        </p:txBody>
      </p:sp>
      <p:sp>
        <p:nvSpPr>
          <p:cNvPr id="3" name="title">
            <a:extLst xmlns:a="http://schemas.openxmlformats.org/drawingml/2006/main">
              <a:ext uri="{FF2B5EF4-FFF2-40B4-BE49-F238E27FC236}">
                <a16:creationId xmlns:a16="http://schemas.microsoft.com/office/drawing/2014/main" id="{D445E669-E776-4FD2-B690-5A7779302DD8}"/>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A Recipe to Repeat</a:t>
            </a:r>
          </a:p>
        </p:txBody>
      </p:sp>
      <p:sp>
        <p:nvSpPr>
          <p:cNvPr id="4" name="verdict">
            <a:extLst xmlns:a="http://schemas.openxmlformats.org/drawingml/2006/main">
              <a:ext uri="{FF2B5EF4-FFF2-40B4-BE49-F238E27FC236}">
                <a16:creationId xmlns:a16="http://schemas.microsoft.com/office/drawing/2014/main" id="{0BE859D8-DD16-4049-B925-415D9A71ED44}"/>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76344"/>
                </a:solidFill>
                <a:latin typeface="DejaVu Sans"/>
                <a:ea typeface="DejaVu Sans"/>
                <a:cs typeface="DejaVu Sans"/>
              </a:defRPr>
            </a:pPr>
            <a:r>
              <a:rPr sz="2250" b="1">
                <a:solidFill>
                  <a:srgbClr val="176344"/>
                </a:solidFill>
                <a:latin typeface="DejaVu Sans"/>
                <a:ea typeface="DejaVu Sans"/>
                <a:cs typeface="DejaVu Sans"/>
              </a:rPr>
              <a:t>ACCEPT</a:t>
            </a:r>
          </a:p>
        </p:txBody>
      </p:sp>
      <p:sp>
        <p:nvSpPr>
          <p:cNvPr id="5" name="reason-label">
            <a:extLst xmlns:a="http://schemas.openxmlformats.org/drawingml/2006/main">
              <a:ext uri="{FF2B5EF4-FFF2-40B4-BE49-F238E27FC236}">
                <a16:creationId xmlns:a16="http://schemas.microsoft.com/office/drawing/2014/main" id="{4871A96A-312A-407E-94D2-8B34737C5B8A}"/>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A1E4650F-F0A3-44FD-80BB-DE8E398D8952}"/>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Clarity/Reproducibility  /  Math/Logic</a:t>
            </a:r>
          </a:p>
        </p:txBody>
      </p:sp>
      <p:sp>
        <p:nvSpPr>
          <p:cNvPr id="7" name="explanation">
            <a:extLst xmlns:a="http://schemas.openxmlformats.org/drawingml/2006/main">
              <a:ext uri="{FF2B5EF4-FFF2-40B4-BE49-F238E27FC236}">
                <a16:creationId xmlns:a16="http://schemas.microsoft.com/office/drawing/2014/main" id="{804E3E11-AC08-465E-B41A-FBC781E8A2F5}"/>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Substituting the controller gives x[n+1] = 0.5x[n], which produces the reported sequence. The initial state, update order, noise assumption, and arithmetic convention specify the requested computation completely.</a:t>
            </a:r>
          </a:p>
        </p:txBody>
      </p:sp>
      <p:sp>
        <p:nvSpPr>
          <p:cNvPr id="8" name="repair-label">
            <a:extLst xmlns:a="http://schemas.openxmlformats.org/drawingml/2006/main">
              <a:ext uri="{FF2B5EF4-FFF2-40B4-BE49-F238E27FC236}">
                <a16:creationId xmlns:a16="http://schemas.microsoft.com/office/drawing/2014/main" id="{2C266F52-CED7-4ED4-8548-1A9E5231C023}"/>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BASIS FOR ACCEPTANCE</a:t>
            </a:r>
          </a:p>
        </p:txBody>
      </p:sp>
      <p:sp>
        <p:nvSpPr>
          <p:cNvPr id="9" name="repair">
            <a:extLst xmlns:a="http://schemas.openxmlformats.org/drawingml/2006/main">
              <a:ext uri="{FF2B5EF4-FFF2-40B4-BE49-F238E27FC236}">
                <a16:creationId xmlns:a16="http://schemas.microsoft.com/office/drawing/2014/main" id="{F01AF0BF-872D-4A70-8B91-B0664E9B2DA4}"/>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reproducibility claim is specific and the card includes the information needed to check it.</a:t>
            </a:r>
          </a:p>
        </p:txBody>
      </p:sp>
      <p:sp>
        <p:nvSpPr>
          <p:cNvPr id="10" name="discussion">
            <a:extLst xmlns:a="http://schemas.openxmlformats.org/drawingml/2006/main">
              <a:ext uri="{FF2B5EF4-FFF2-40B4-BE49-F238E27FC236}">
                <a16:creationId xmlns:a16="http://schemas.microsoft.com/office/drawing/2014/main" id="{C2B30DFE-8A65-48EF-95E7-E87E2278D289}"/>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Which supplied details prevent two readers from simulating different systems?</a:t>
            </a:r>
          </a:p>
        </p:txBody>
      </p:sp>
    </p:spTree>
    <p:extLst>
      <p:ext uri="{BB962C8B-B14F-4D97-AF65-F5344CB8AC3E}">
        <p14:creationId xmlns:p14="http://schemas.microsoft.com/office/powerpoint/2010/main" val="96568355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DB4257CB-C40E-465E-8F21-C069409F9A20}"/>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863CF2C2-86AF-4B63-A398-D654CC79E658}"/>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M18  /  STANDARD</a:t>
            </a:r>
          </a:p>
        </p:txBody>
      </p:sp>
      <p:sp>
        <p:nvSpPr>
          <p:cNvPr id="3" name="title">
            <a:extLst xmlns:a="http://schemas.openxmlformats.org/drawingml/2006/main">
              <a:ext uri="{FF2B5EF4-FFF2-40B4-BE49-F238E27FC236}">
                <a16:creationId xmlns:a16="http://schemas.microsoft.com/office/drawing/2014/main" id="{E8DE62AC-F4BD-4A4A-B02B-6F8F69963252}"/>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The Missing Clock</a:t>
            </a:r>
          </a:p>
        </p:txBody>
      </p:sp>
      <p:sp>
        <p:nvSpPr>
          <p:cNvPr id="4" name="authors">
            <a:extLst xmlns:a="http://schemas.openxmlformats.org/drawingml/2006/main">
              <a:ext uri="{FF2B5EF4-FFF2-40B4-BE49-F238E27FC236}">
                <a16:creationId xmlns:a16="http://schemas.microsoft.com/office/drawing/2014/main" id="{CCCDB3B7-0963-409B-A0C1-2B74754BB0BF}"/>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Nia Volt, Mira Chen</a:t>
            </a:r>
          </a:p>
        </p:txBody>
      </p:sp>
      <p:sp>
        <p:nvSpPr>
          <p:cNvPr id="5" name="expertise">
            <a:extLst xmlns:a="http://schemas.openxmlformats.org/drawingml/2006/main">
              <a:ext uri="{FF2B5EF4-FFF2-40B4-BE49-F238E27FC236}">
                <a16:creationId xmlns:a16="http://schemas.microsoft.com/office/drawing/2014/main" id="{6F1176EF-87C4-440B-BD83-B3C799004E0D}"/>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3F2BCACE-D686-4883-8EAF-525B27F52984}"/>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digital PI-controller study provides the plant, gains, initial conditions, input limits, and complete reference signal. Its implementation updates the integral state with the equation below. The sample period T is missing from both the text and code listing. The paper claims that readers can reproduce the reported trajectory exactly. There is no other identified error in the method or results.</a:t>
            </a:r>
          </a:p>
        </p:txBody>
      </p:sp>
      <p:sp>
        <p:nvSpPr>
          <p:cNvPr id="7" name="equation">
            <a:extLst xmlns:a="http://schemas.openxmlformats.org/drawingml/2006/main">
              <a:ext uri="{FF2B5EF4-FFF2-40B4-BE49-F238E27FC236}">
                <a16:creationId xmlns:a16="http://schemas.microsoft.com/office/drawing/2014/main" id="{21A38ECA-F4DF-498E-BF4A-786115A1BF09}"/>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I[n+1] = I[n] + T e[n]</a:t>
            </a:r>
          </a:p>
        </p:txBody>
      </p:sp>
      <p:sp>
        <p:nvSpPr>
          <p:cNvPr id="8" name="prompt">
            <a:extLst xmlns:a="http://schemas.openxmlformats.org/drawingml/2006/main">
              <a:ext uri="{FF2B5EF4-FFF2-40B4-BE49-F238E27FC236}">
                <a16:creationId xmlns:a16="http://schemas.microsoft.com/office/drawing/2014/main" id="{CB2FE50F-6D85-4E2A-BC5D-785FB29A9E84}"/>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53860458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A55A17C3-98DA-4FBC-9ED1-C6ECCF6212F3}"/>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718CC612-E36C-4796-8833-12945BC7F056}"/>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M18  /  ANSWER</a:t>
            </a:r>
          </a:p>
        </p:txBody>
      </p:sp>
      <p:sp>
        <p:nvSpPr>
          <p:cNvPr id="3" name="title">
            <a:extLst xmlns:a="http://schemas.openxmlformats.org/drawingml/2006/main">
              <a:ext uri="{FF2B5EF4-FFF2-40B4-BE49-F238E27FC236}">
                <a16:creationId xmlns:a16="http://schemas.microsoft.com/office/drawing/2014/main" id="{B81DE06D-2330-4F81-A8E3-352193D81774}"/>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The Missing Clock</a:t>
            </a:r>
          </a:p>
        </p:txBody>
      </p:sp>
      <p:sp>
        <p:nvSpPr>
          <p:cNvPr id="4" name="verdict">
            <a:extLst xmlns:a="http://schemas.openxmlformats.org/drawingml/2006/main">
              <a:ext uri="{FF2B5EF4-FFF2-40B4-BE49-F238E27FC236}">
                <a16:creationId xmlns:a16="http://schemas.microsoft.com/office/drawing/2014/main" id="{BC228B56-373F-414C-83AB-0F9D1BBDBBDD}"/>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25C00"/>
                </a:solidFill>
                <a:latin typeface="DejaVu Sans"/>
                <a:ea typeface="DejaVu Sans"/>
                <a:cs typeface="DejaVu Sans"/>
              </a:defRPr>
            </a:pPr>
            <a:r>
              <a:rPr sz="2250" b="1">
                <a:solidFill>
                  <a:srgbClr val="925C00"/>
                </a:solidFill>
                <a:latin typeface="DejaVu Sans"/>
                <a:ea typeface="DejaVu Sans"/>
                <a:cs typeface="DejaVu Sans"/>
              </a:rPr>
              <a:t>REVISE</a:t>
            </a:r>
          </a:p>
        </p:txBody>
      </p:sp>
      <p:sp>
        <p:nvSpPr>
          <p:cNvPr id="5" name="reason-label">
            <a:extLst xmlns:a="http://schemas.openxmlformats.org/drawingml/2006/main">
              <a:ext uri="{FF2B5EF4-FFF2-40B4-BE49-F238E27FC236}">
                <a16:creationId xmlns:a16="http://schemas.microsoft.com/office/drawing/2014/main" id="{FB8E6ADD-D9FA-47E7-8F77-B514C7DEC3F1}"/>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8DD78434-FF42-48E3-9BEE-F2452CD4203C}"/>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Clarity/Reproducibility</a:t>
            </a:r>
          </a:p>
        </p:txBody>
      </p:sp>
      <p:sp>
        <p:nvSpPr>
          <p:cNvPr id="7" name="explanation">
            <a:extLst xmlns:a="http://schemas.openxmlformats.org/drawingml/2006/main">
              <a:ext uri="{FF2B5EF4-FFF2-40B4-BE49-F238E27FC236}">
                <a16:creationId xmlns:a16="http://schemas.microsoft.com/office/drawing/2014/main" id="{80BBFAB1-C3D5-408B-98D9-ABCE1A238B59}"/>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 changes the numerical controller and the physical timing of the simulation. The supplied information therefore does not specify a unique experiment. A missing implementation parameter can be supplied without replacing the controller study.</a:t>
            </a:r>
          </a:p>
        </p:txBody>
      </p:sp>
      <p:sp>
        <p:nvSpPr>
          <p:cNvPr id="8" name="repair-label">
            <a:extLst xmlns:a="http://schemas.openxmlformats.org/drawingml/2006/main">
              <a:ext uri="{FF2B5EF4-FFF2-40B4-BE49-F238E27FC236}">
                <a16:creationId xmlns:a16="http://schemas.microsoft.com/office/drawing/2014/main" id="{89F62BED-3847-46F8-9462-3A6A09788E24}"/>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REPAIR</a:t>
            </a:r>
          </a:p>
        </p:txBody>
      </p:sp>
      <p:sp>
        <p:nvSpPr>
          <p:cNvPr id="9" name="repair">
            <a:extLst xmlns:a="http://schemas.openxmlformats.org/drawingml/2006/main">
              <a:ext uri="{FF2B5EF4-FFF2-40B4-BE49-F238E27FC236}">
                <a16:creationId xmlns:a16="http://schemas.microsoft.com/office/drawing/2014/main" id="{45BFBAC3-465C-4CE7-87D5-3A6F59737AD7}"/>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State the sample period with units, include it in the code, and confirm that it reproduces the reported trajectory.</a:t>
            </a:r>
          </a:p>
        </p:txBody>
      </p:sp>
      <p:sp>
        <p:nvSpPr>
          <p:cNvPr id="10" name="discussion">
            <a:extLst xmlns:a="http://schemas.openxmlformats.org/drawingml/2006/main">
              <a:ext uri="{FF2B5EF4-FFF2-40B4-BE49-F238E27FC236}">
                <a16:creationId xmlns:a16="http://schemas.microsoft.com/office/drawing/2014/main" id="{C647A32B-C0CE-4326-8AEF-D188565CA084}"/>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Would stating only the integral gain remove the ambiguity?</a:t>
            </a:r>
          </a:p>
        </p:txBody>
      </p:sp>
    </p:spTree>
    <p:extLst>
      <p:ext uri="{BB962C8B-B14F-4D97-AF65-F5344CB8AC3E}">
        <p14:creationId xmlns:p14="http://schemas.microsoft.com/office/powerpoint/2010/main" val="129774447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823F6CD4-D418-44B9-8E22-58A62BE4421F}"/>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D1740728-412A-49E0-A971-BF5D31C08D40}"/>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M19  /  ADVANCED</a:t>
            </a:r>
          </a:p>
        </p:txBody>
      </p:sp>
      <p:sp>
        <p:nvSpPr>
          <p:cNvPr id="3" name="title">
            <a:extLst xmlns:a="http://schemas.openxmlformats.org/drawingml/2006/main">
              <a:ext uri="{FF2B5EF4-FFF2-40B4-BE49-F238E27FC236}">
                <a16:creationId xmlns:a16="http://schemas.microsoft.com/office/drawing/2014/main" id="{F69480B3-C203-4751-9A43-F3D8224F6CA7}"/>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A New Integral Law</a:t>
            </a:r>
          </a:p>
        </p:txBody>
      </p:sp>
      <p:sp>
        <p:nvSpPr>
          <p:cNvPr id="4" name="authors">
            <a:extLst xmlns:a="http://schemas.openxmlformats.org/drawingml/2006/main">
              <a:ext uri="{FF2B5EF4-FFF2-40B4-BE49-F238E27FC236}">
                <a16:creationId xmlns:a16="http://schemas.microsoft.com/office/drawing/2014/main" id="{EF0C9CEA-4989-48E1-B50C-EA9F44887B97}"/>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Tess Gray, Theo Reed</a:t>
            </a:r>
          </a:p>
        </p:txBody>
      </p:sp>
      <p:sp>
        <p:nvSpPr>
          <p:cNvPr id="5" name="expertise">
            <a:extLst xmlns:a="http://schemas.openxmlformats.org/drawingml/2006/main">
              <a:ext uri="{FF2B5EF4-FFF2-40B4-BE49-F238E27FC236}">
                <a16:creationId xmlns:a16="http://schemas.microsoft.com/office/drawing/2014/main" id="{CCEEBAF5-059C-4238-9631-D4653CF9E60E}"/>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D6179A0E-CDB2-4D9F-ACAF-27EA56BFDA8E}"/>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research journal requires an original methodological contribution. A cited prior controller uses error e and integral state z with u = 2e + 0.5z and dz/dt = e. The proposed controller only renames z as q. All equations, assumptions, and gains remain identical. The paper offers no new analysis or other result. Its entire contribution is the claimed new controller law.</a:t>
            </a:r>
          </a:p>
        </p:txBody>
      </p:sp>
      <p:sp>
        <p:nvSpPr>
          <p:cNvPr id="7" name="equation">
            <a:extLst xmlns:a="http://schemas.openxmlformats.org/drawingml/2006/main">
              <a:ext uri="{FF2B5EF4-FFF2-40B4-BE49-F238E27FC236}">
                <a16:creationId xmlns:a16="http://schemas.microsoft.com/office/drawing/2014/main" id="{98D280C7-A150-42E0-B658-7DF2FB31FD3A}"/>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Prior: u = 2e + 0.5z     Proposed: u = 2e + 0.5q</a:t>
            </a:r>
          </a:p>
        </p:txBody>
      </p:sp>
      <p:sp>
        <p:nvSpPr>
          <p:cNvPr id="8" name="prompt">
            <a:extLst xmlns:a="http://schemas.openxmlformats.org/drawingml/2006/main">
              <a:ext uri="{FF2B5EF4-FFF2-40B4-BE49-F238E27FC236}">
                <a16:creationId xmlns:a16="http://schemas.microsoft.com/office/drawing/2014/main" id="{E1D796D3-E61F-473C-821D-B4E769CE161F}"/>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95268258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D51DA64C-DDC1-4E39-8B81-714BF07263DD}"/>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93FB0517-C4EE-4A17-8444-6D9BF7A51E71}"/>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M19  /  ANSWER</a:t>
            </a:r>
          </a:p>
        </p:txBody>
      </p:sp>
      <p:sp>
        <p:nvSpPr>
          <p:cNvPr id="3" name="title">
            <a:extLst xmlns:a="http://schemas.openxmlformats.org/drawingml/2006/main">
              <a:ext uri="{FF2B5EF4-FFF2-40B4-BE49-F238E27FC236}">
                <a16:creationId xmlns:a16="http://schemas.microsoft.com/office/drawing/2014/main" id="{1AD82D6B-F170-4154-892D-55EA3DADBA86}"/>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A New Integral Law</a:t>
            </a:r>
          </a:p>
        </p:txBody>
      </p:sp>
      <p:sp>
        <p:nvSpPr>
          <p:cNvPr id="4" name="verdict">
            <a:extLst xmlns:a="http://schemas.openxmlformats.org/drawingml/2006/main">
              <a:ext uri="{FF2B5EF4-FFF2-40B4-BE49-F238E27FC236}">
                <a16:creationId xmlns:a16="http://schemas.microsoft.com/office/drawing/2014/main" id="{C28CEC45-A98D-4340-9F54-2DC0D958328C}"/>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E2730"/>
                </a:solidFill>
                <a:latin typeface="DejaVu Sans"/>
                <a:ea typeface="DejaVu Sans"/>
                <a:cs typeface="DejaVu Sans"/>
              </a:defRPr>
            </a:pPr>
            <a:r>
              <a:rPr sz="2250" b="1">
                <a:solidFill>
                  <a:srgbClr val="9E2730"/>
                </a:solidFill>
                <a:latin typeface="DejaVu Sans"/>
                <a:ea typeface="DejaVu Sans"/>
                <a:cs typeface="DejaVu Sans"/>
              </a:rPr>
              <a:t>REJECT</a:t>
            </a:r>
          </a:p>
        </p:txBody>
      </p:sp>
      <p:sp>
        <p:nvSpPr>
          <p:cNvPr id="5" name="reason-label">
            <a:extLst xmlns:a="http://schemas.openxmlformats.org/drawingml/2006/main">
              <a:ext uri="{FF2B5EF4-FFF2-40B4-BE49-F238E27FC236}">
                <a16:creationId xmlns:a16="http://schemas.microsoft.com/office/drawing/2014/main" id="{52F97197-7E61-4199-8E05-99070FA5BD6A}"/>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280671EF-124E-45D9-A1B3-4098E77B5C42}"/>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Scope/Novelty</a:t>
            </a:r>
          </a:p>
        </p:txBody>
      </p:sp>
      <p:sp>
        <p:nvSpPr>
          <p:cNvPr id="7" name="explanation">
            <a:extLst xmlns:a="http://schemas.openxmlformats.org/drawingml/2006/main">
              <a:ext uri="{FF2B5EF4-FFF2-40B4-BE49-F238E27FC236}">
                <a16:creationId xmlns:a16="http://schemas.microsoft.com/office/drawing/2014/main" id="{EEE06A85-07EE-428C-93FC-9DFA9AB73C1B}"/>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Renaming the integral state leaves the controller unchanged. Under the explicit journal requirement, the paper has no original methodological contribution. The issue is not that the controller must be technically incorrect.</a:t>
            </a:r>
          </a:p>
        </p:txBody>
      </p:sp>
      <p:sp>
        <p:nvSpPr>
          <p:cNvPr id="8" name="repair-label">
            <a:extLst xmlns:a="http://schemas.openxmlformats.org/drawingml/2006/main">
              <a:ext uri="{FF2B5EF4-FFF2-40B4-BE49-F238E27FC236}">
                <a16:creationId xmlns:a16="http://schemas.microsoft.com/office/drawing/2014/main" id="{25631012-61C6-4C30-AAE4-FDF8EBB7FD4B}"/>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FUNDAMENTAL FLAW</a:t>
            </a:r>
          </a:p>
        </p:txBody>
      </p:sp>
      <p:sp>
        <p:nvSpPr>
          <p:cNvPr id="9" name="repair">
            <a:extLst xmlns:a="http://schemas.openxmlformats.org/drawingml/2006/main">
              <a:ext uri="{FF2B5EF4-FFF2-40B4-BE49-F238E27FC236}">
                <a16:creationId xmlns:a16="http://schemas.microsoft.com/office/drawing/2014/main" id="{5EEEA03F-1E50-4567-953C-B25917B9454D}"/>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Meeting the venue's requirement would require a substantive new contribution. Correcting the novelty sentence alone would leave no contribution of the required kind.</a:t>
            </a:r>
          </a:p>
        </p:txBody>
      </p:sp>
      <p:sp>
        <p:nvSpPr>
          <p:cNvPr id="10" name="discussion">
            <a:extLst xmlns:a="http://schemas.openxmlformats.org/drawingml/2006/main">
              <a:ext uri="{FF2B5EF4-FFF2-40B4-BE49-F238E27FC236}">
                <a16:creationId xmlns:a16="http://schemas.microsoft.com/office/drawing/2014/main" id="{D6403750-C2DB-4FF6-B873-C8F94D2DB430}"/>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Could this same controller appear appropriately in a teaching paper?</a:t>
            </a:r>
          </a:p>
        </p:txBody>
      </p:sp>
    </p:spTree>
    <p:extLst>
      <p:ext uri="{BB962C8B-B14F-4D97-AF65-F5344CB8AC3E}">
        <p14:creationId xmlns:p14="http://schemas.microsoft.com/office/powerpoint/2010/main" val="3881470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0F5B0EB7-AA4C-4D33-9BEB-D7D6732C8740}"/>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2C434DF3-E312-495E-85DC-64CA7B7EB220}"/>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M20  /  STANDARD</a:t>
            </a:r>
          </a:p>
        </p:txBody>
      </p:sp>
      <p:sp>
        <p:nvSpPr>
          <p:cNvPr id="3" name="title">
            <a:extLst xmlns:a="http://schemas.openxmlformats.org/drawingml/2006/main">
              <a:ext uri="{FF2B5EF4-FFF2-40B4-BE49-F238E27FC236}">
                <a16:creationId xmlns:a16="http://schemas.microsoft.com/office/drawing/2014/main" id="{F5ADD43E-2425-496D-8E7B-2E84FF95CC26}"/>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An Old Tool, A New Study</a:t>
            </a:r>
          </a:p>
        </p:txBody>
      </p:sp>
      <p:sp>
        <p:nvSpPr>
          <p:cNvPr id="4" name="authors">
            <a:extLst xmlns:a="http://schemas.openxmlformats.org/drawingml/2006/main">
              <a:ext uri="{FF2B5EF4-FFF2-40B4-BE49-F238E27FC236}">
                <a16:creationId xmlns:a16="http://schemas.microsoft.com/office/drawing/2014/main" id="{E6DD3B88-108B-4660-AE68-91C885ADC567}"/>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Hugo Moss, Tess Gray</a:t>
            </a:r>
          </a:p>
        </p:txBody>
      </p:sp>
      <p:sp>
        <p:nvSpPr>
          <p:cNvPr id="5" name="expertise">
            <a:extLst xmlns:a="http://schemas.openxmlformats.org/drawingml/2006/main">
              <a:ext uri="{FF2B5EF4-FFF2-40B4-BE49-F238E27FC236}">
                <a16:creationId xmlns:a16="http://schemas.microsoft.com/office/drawing/2014/main" id="{BCDCE8A9-2121-465E-9374-F8DE5BC30A85}"/>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C109BDF0-0944-49B4-85BD-10654F8878F3}"/>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journal accepts original experimental control studies. A paper cites the standard PI law and contributes a new, fully documented comparison of two anti-windup settings on a pump. Its measurements support the stated recovery comparison. The abstract nevertheless claims that the paper introduces the first PI controller. The experimental contribution does not depend on inventing that law.</a:t>
            </a:r>
          </a:p>
        </p:txBody>
      </p:sp>
      <p:sp>
        <p:nvSpPr>
          <p:cNvPr id="7" name="equation">
            <a:extLst xmlns:a="http://schemas.openxmlformats.org/drawingml/2006/main">
              <a:ext uri="{FF2B5EF4-FFF2-40B4-BE49-F238E27FC236}">
                <a16:creationId xmlns:a16="http://schemas.microsoft.com/office/drawing/2014/main" id="{EFD3D6AF-D4DE-41DC-A8B2-C44EEAAE9258}"/>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Contribution: new pump tests using an existing PI law</a:t>
            </a:r>
          </a:p>
        </p:txBody>
      </p:sp>
      <p:sp>
        <p:nvSpPr>
          <p:cNvPr id="8" name="prompt">
            <a:extLst xmlns:a="http://schemas.openxmlformats.org/drawingml/2006/main">
              <a:ext uri="{FF2B5EF4-FFF2-40B4-BE49-F238E27FC236}">
                <a16:creationId xmlns:a16="http://schemas.microsoft.com/office/drawing/2014/main" id="{1ED47B97-02FA-4E24-AEDF-4117FA20F1C5}"/>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7027213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D9322006-3CDF-4BD2-B7DA-CE1819A9E8E8}"/>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3B94DA65-14E5-4FA8-97A2-753CBF97875F}"/>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M20  /  ANSWER</a:t>
            </a:r>
          </a:p>
        </p:txBody>
      </p:sp>
      <p:sp>
        <p:nvSpPr>
          <p:cNvPr id="3" name="title">
            <a:extLst xmlns:a="http://schemas.openxmlformats.org/drawingml/2006/main">
              <a:ext uri="{FF2B5EF4-FFF2-40B4-BE49-F238E27FC236}">
                <a16:creationId xmlns:a16="http://schemas.microsoft.com/office/drawing/2014/main" id="{9F5CD792-C15C-41F9-B800-14F6CBE99A41}"/>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An Old Tool, A New Study</a:t>
            </a:r>
          </a:p>
        </p:txBody>
      </p:sp>
      <p:sp>
        <p:nvSpPr>
          <p:cNvPr id="4" name="verdict">
            <a:extLst xmlns:a="http://schemas.openxmlformats.org/drawingml/2006/main">
              <a:ext uri="{FF2B5EF4-FFF2-40B4-BE49-F238E27FC236}">
                <a16:creationId xmlns:a16="http://schemas.microsoft.com/office/drawing/2014/main" id="{D2621886-2833-46ED-92DC-8F4F68ED9D9C}"/>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25C00"/>
                </a:solidFill>
                <a:latin typeface="DejaVu Sans"/>
                <a:ea typeface="DejaVu Sans"/>
                <a:cs typeface="DejaVu Sans"/>
              </a:defRPr>
            </a:pPr>
            <a:r>
              <a:rPr sz="2250" b="1">
                <a:solidFill>
                  <a:srgbClr val="925C00"/>
                </a:solidFill>
                <a:latin typeface="DejaVu Sans"/>
                <a:ea typeface="DejaVu Sans"/>
                <a:cs typeface="DejaVu Sans"/>
              </a:rPr>
              <a:t>REVISE</a:t>
            </a:r>
          </a:p>
        </p:txBody>
      </p:sp>
      <p:sp>
        <p:nvSpPr>
          <p:cNvPr id="5" name="reason-label">
            <a:extLst xmlns:a="http://schemas.openxmlformats.org/drawingml/2006/main">
              <a:ext uri="{FF2B5EF4-FFF2-40B4-BE49-F238E27FC236}">
                <a16:creationId xmlns:a16="http://schemas.microsoft.com/office/drawing/2014/main" id="{1CC2F739-4A34-416B-8225-3983A8FD695E}"/>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481EAE2F-0DC6-4475-B3F4-7888101F9F13}"/>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Scope/Novelty</a:t>
            </a:r>
          </a:p>
        </p:txBody>
      </p:sp>
      <p:sp>
        <p:nvSpPr>
          <p:cNvPr id="7" name="explanation">
            <a:extLst xmlns:a="http://schemas.openxmlformats.org/drawingml/2006/main">
              <a:ext uri="{FF2B5EF4-FFF2-40B4-BE49-F238E27FC236}">
                <a16:creationId xmlns:a16="http://schemas.microsoft.com/office/drawing/2014/main" id="{DBA79707-3F8E-4454-8CAD-7B0DBF96BB72}"/>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abstract overstates the novelty of the controller despite the cited prior law. The experimental study is a separate contribution that fits the stated venue. Correcting the attribution and novelty claim preserves that study.</a:t>
            </a:r>
          </a:p>
        </p:txBody>
      </p:sp>
      <p:sp>
        <p:nvSpPr>
          <p:cNvPr id="8" name="repair-label">
            <a:extLst xmlns:a="http://schemas.openxmlformats.org/drawingml/2006/main">
              <a:ext uri="{FF2B5EF4-FFF2-40B4-BE49-F238E27FC236}">
                <a16:creationId xmlns:a16="http://schemas.microsoft.com/office/drawing/2014/main" id="{410DD759-DF42-4D82-93FF-9EE70C8B5D33}"/>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REPAIR</a:t>
            </a:r>
          </a:p>
        </p:txBody>
      </p:sp>
      <p:sp>
        <p:nvSpPr>
          <p:cNvPr id="9" name="repair">
            <a:extLst xmlns:a="http://schemas.openxmlformats.org/drawingml/2006/main">
              <a:ext uri="{FF2B5EF4-FFF2-40B4-BE49-F238E27FC236}">
                <a16:creationId xmlns:a16="http://schemas.microsoft.com/office/drawing/2014/main" id="{4BF5E40E-F25F-4971-A116-44C46C2746EE}"/>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Describe the PI law as existing work and state the new contribution as the pump experiment and its supported comparison.</a:t>
            </a:r>
          </a:p>
        </p:txBody>
      </p:sp>
      <p:sp>
        <p:nvSpPr>
          <p:cNvPr id="10" name="discussion">
            <a:extLst xmlns:a="http://schemas.openxmlformats.org/drawingml/2006/main">
              <a:ext uri="{FF2B5EF4-FFF2-40B4-BE49-F238E27FC236}">
                <a16:creationId xmlns:a16="http://schemas.microsoft.com/office/drawing/2014/main" id="{0949CD21-5F1E-4E3F-9105-B98FC5B1D3F7}"/>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Which part of this paper can remain original after the correction?</a:t>
            </a:r>
          </a:p>
        </p:txBody>
      </p:sp>
    </p:spTree>
    <p:extLst>
      <p:ext uri="{BB962C8B-B14F-4D97-AF65-F5344CB8AC3E}">
        <p14:creationId xmlns:p14="http://schemas.microsoft.com/office/powerpoint/2010/main" val="113572270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CB422CD5-91F9-43DE-B921-AEAF2F5C4EBB}"/>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787B565C-ED4E-48DE-ABF9-7878431FD85D}"/>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M21  /  GUIDED</a:t>
            </a:r>
          </a:p>
        </p:txBody>
      </p:sp>
      <p:sp>
        <p:nvSpPr>
          <p:cNvPr id="3" name="title">
            <a:extLst xmlns:a="http://schemas.openxmlformats.org/drawingml/2006/main">
              <a:ext uri="{FF2B5EF4-FFF2-40B4-BE49-F238E27FC236}">
                <a16:creationId xmlns:a16="http://schemas.microsoft.com/office/drawing/2014/main" id="{D232E48C-2150-489D-A29D-CDD702C118FF}"/>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A Classroom Control Study</a:t>
            </a:r>
          </a:p>
        </p:txBody>
      </p:sp>
      <p:sp>
        <p:nvSpPr>
          <p:cNvPr id="4" name="authors">
            <a:extLst xmlns:a="http://schemas.openxmlformats.org/drawingml/2006/main">
              <a:ext uri="{FF2B5EF4-FFF2-40B4-BE49-F238E27FC236}">
                <a16:creationId xmlns:a16="http://schemas.microsoft.com/office/drawing/2014/main" id="{87C025ED-8318-4CC1-B952-1768B8248748}"/>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Zoe King, Ari Dunn</a:t>
            </a:r>
          </a:p>
        </p:txBody>
      </p:sp>
      <p:sp>
        <p:nvSpPr>
          <p:cNvPr id="5" name="expertise">
            <a:extLst xmlns:a="http://schemas.openxmlformats.org/drawingml/2006/main">
              <a:ext uri="{FF2B5EF4-FFF2-40B4-BE49-F238E27FC236}">
                <a16:creationId xmlns:a16="http://schemas.microsoft.com/office/drawing/2014/main" id="{0C08EDC5-3EF2-4EB1-ABF8-1C86C2355E1B}"/>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Feedback/PID</a:t>
            </a:r>
          </a:p>
        </p:txBody>
      </p:sp>
      <p:sp>
        <p:nvSpPr>
          <p:cNvPr id="6" name="manuscript">
            <a:extLst xmlns:a="http://schemas.openxmlformats.org/drawingml/2006/main">
              <a:ext uri="{FF2B5EF4-FFF2-40B4-BE49-F238E27FC236}">
                <a16:creationId xmlns:a16="http://schemas.microsoft.com/office/drawing/2014/main" id="{E62DED7B-3794-438E-AD4E-6BD0D160607A}"/>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An education journal accepts activities using established control methods. A paper compares proportional and PI control on a specified simulated plant. It cites the laws and provides complete code, parameters, and expected outputs. Its contribution is this classroom activity. It claims no new theorem or measured improvement in student learning.</a:t>
            </a:r>
          </a:p>
        </p:txBody>
      </p:sp>
      <p:sp>
        <p:nvSpPr>
          <p:cNvPr id="7" name="equation">
            <a:extLst xmlns:a="http://schemas.openxmlformats.org/drawingml/2006/main">
              <a:ext uri="{FF2B5EF4-FFF2-40B4-BE49-F238E27FC236}">
                <a16:creationId xmlns:a16="http://schemas.microsoft.com/office/drawing/2014/main" id="{D299F4F2-A0A5-4FA6-8910-3072AA46D095}"/>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Venue scope: reproducible control-teaching activities</a:t>
            </a:r>
          </a:p>
        </p:txBody>
      </p:sp>
      <p:sp>
        <p:nvSpPr>
          <p:cNvPr id="8" name="prompt">
            <a:extLst xmlns:a="http://schemas.openxmlformats.org/drawingml/2006/main">
              <a:ext uri="{FF2B5EF4-FFF2-40B4-BE49-F238E27FC236}">
                <a16:creationId xmlns:a16="http://schemas.microsoft.com/office/drawing/2014/main" id="{E9ED8498-AEDD-4FF3-878A-4E40BC91F3A6}"/>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213078506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8DE3721E-72E7-46B3-B28A-72CE01158F39}"/>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A4BAA555-43A2-4995-9E71-092BE50AEE0F}"/>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M21  /  ANSWER</a:t>
            </a:r>
          </a:p>
        </p:txBody>
      </p:sp>
      <p:sp>
        <p:nvSpPr>
          <p:cNvPr id="3" name="title">
            <a:extLst xmlns:a="http://schemas.openxmlformats.org/drawingml/2006/main">
              <a:ext uri="{FF2B5EF4-FFF2-40B4-BE49-F238E27FC236}">
                <a16:creationId xmlns:a16="http://schemas.microsoft.com/office/drawing/2014/main" id="{E38AEFF4-BECE-43D7-8CD7-E7E3E473184A}"/>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A Classroom Control Study</a:t>
            </a:r>
          </a:p>
        </p:txBody>
      </p:sp>
      <p:sp>
        <p:nvSpPr>
          <p:cNvPr id="4" name="verdict">
            <a:extLst xmlns:a="http://schemas.openxmlformats.org/drawingml/2006/main">
              <a:ext uri="{FF2B5EF4-FFF2-40B4-BE49-F238E27FC236}">
                <a16:creationId xmlns:a16="http://schemas.microsoft.com/office/drawing/2014/main" id="{5578D2A4-9F3C-4EE7-895E-5F5F5C48ABCC}"/>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76344"/>
                </a:solidFill>
                <a:latin typeface="DejaVu Sans"/>
                <a:ea typeface="DejaVu Sans"/>
                <a:cs typeface="DejaVu Sans"/>
              </a:defRPr>
            </a:pPr>
            <a:r>
              <a:rPr sz="2250" b="1">
                <a:solidFill>
                  <a:srgbClr val="176344"/>
                </a:solidFill>
                <a:latin typeface="DejaVu Sans"/>
                <a:ea typeface="DejaVu Sans"/>
                <a:cs typeface="DejaVu Sans"/>
              </a:rPr>
              <a:t>ACCEPT</a:t>
            </a:r>
          </a:p>
        </p:txBody>
      </p:sp>
      <p:sp>
        <p:nvSpPr>
          <p:cNvPr id="5" name="reason-label">
            <a:extLst xmlns:a="http://schemas.openxmlformats.org/drawingml/2006/main">
              <a:ext uri="{FF2B5EF4-FFF2-40B4-BE49-F238E27FC236}">
                <a16:creationId xmlns:a16="http://schemas.microsoft.com/office/drawing/2014/main" id="{F6FAD1BC-487E-4E24-BBF4-EAF325683E60}"/>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DFB17D8C-F095-43C7-96B4-E7530C2C5F7D}"/>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Scope/Novelty  /  Clarity/Reproducibility</a:t>
            </a:r>
          </a:p>
        </p:txBody>
      </p:sp>
      <p:sp>
        <p:nvSpPr>
          <p:cNvPr id="7" name="explanation">
            <a:extLst xmlns:a="http://schemas.openxmlformats.org/drawingml/2006/main">
              <a:ext uri="{FF2B5EF4-FFF2-40B4-BE49-F238E27FC236}">
                <a16:creationId xmlns:a16="http://schemas.microsoft.com/office/drawing/2014/main" id="{B689C1C9-CCA5-419B-814C-E23134AE87AC}"/>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stated contribution matches the venue's explicit scope. Using established controllers is appropriate for this teaching activity, and the supplied materials support reproduction. The paper accurately limits what it contributes.</a:t>
            </a:r>
          </a:p>
        </p:txBody>
      </p:sp>
      <p:sp>
        <p:nvSpPr>
          <p:cNvPr id="8" name="repair-label">
            <a:extLst xmlns:a="http://schemas.openxmlformats.org/drawingml/2006/main">
              <a:ext uri="{FF2B5EF4-FFF2-40B4-BE49-F238E27FC236}">
                <a16:creationId xmlns:a16="http://schemas.microsoft.com/office/drawing/2014/main" id="{7A9C5D05-1842-43D2-A1CF-EF1C70FDB551}"/>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BASIS FOR ACCEPTANCE</a:t>
            </a:r>
          </a:p>
        </p:txBody>
      </p:sp>
      <p:sp>
        <p:nvSpPr>
          <p:cNvPr id="9" name="repair">
            <a:extLst xmlns:a="http://schemas.openxmlformats.org/drawingml/2006/main">
              <a:ext uri="{FF2B5EF4-FFF2-40B4-BE49-F238E27FC236}">
                <a16:creationId xmlns:a16="http://schemas.microsoft.com/office/drawing/2014/main" id="{3096CDC7-70EE-4F52-AA50-20074659C4AD}"/>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A new theorem is unnecessary for the stated submission type. The activity and materials are the contribution the venue requests.</a:t>
            </a:r>
          </a:p>
        </p:txBody>
      </p:sp>
      <p:sp>
        <p:nvSpPr>
          <p:cNvPr id="10" name="discussion">
            <a:extLst xmlns:a="http://schemas.openxmlformats.org/drawingml/2006/main">
              <a:ext uri="{FF2B5EF4-FFF2-40B4-BE49-F238E27FC236}">
                <a16:creationId xmlns:a16="http://schemas.microsoft.com/office/drawing/2014/main" id="{968402DF-2243-497C-BDB5-E6FA8B04B2E1}"/>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Would a journal requiring a new control method assess its scope differently?</a:t>
            </a:r>
          </a:p>
        </p:txBody>
      </p:sp>
    </p:spTree>
    <p:extLst>
      <p:ext uri="{BB962C8B-B14F-4D97-AF65-F5344CB8AC3E}">
        <p14:creationId xmlns:p14="http://schemas.microsoft.com/office/powerpoint/2010/main" val="170529297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464269EA-E011-41AE-995C-4F7C3EE47EC6}"/>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AB775B84-CB14-4C61-9BD9-9CE7E4040435}"/>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M22  /  ADVANCED</a:t>
            </a:r>
          </a:p>
        </p:txBody>
      </p:sp>
      <p:sp>
        <p:nvSpPr>
          <p:cNvPr id="3" name="title">
            <a:extLst xmlns:a="http://schemas.openxmlformats.org/drawingml/2006/main">
              <a:ext uri="{FF2B5EF4-FFF2-40B4-BE49-F238E27FC236}">
                <a16:creationId xmlns:a16="http://schemas.microsoft.com/office/drawing/2014/main" id="{D0DA0CB5-75E4-4B9C-92FC-C157DA6E29BA}"/>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Beyond the Linearization</a:t>
            </a:r>
          </a:p>
        </p:txBody>
      </p:sp>
      <p:sp>
        <p:nvSpPr>
          <p:cNvPr id="4" name="authors">
            <a:extLst xmlns:a="http://schemas.openxmlformats.org/drawingml/2006/main">
              <a:ext uri="{FF2B5EF4-FFF2-40B4-BE49-F238E27FC236}">
                <a16:creationId xmlns:a16="http://schemas.microsoft.com/office/drawing/2014/main" id="{FC4E957B-3346-4AF2-B85F-0C08BD30E19A}"/>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Theo Reed, Nia Volt</a:t>
            </a:r>
          </a:p>
        </p:txBody>
      </p:sp>
      <p:sp>
        <p:nvSpPr>
          <p:cNvPr id="5" name="expertise">
            <a:extLst xmlns:a="http://schemas.openxmlformats.org/drawingml/2006/main">
              <a:ext uri="{FF2B5EF4-FFF2-40B4-BE49-F238E27FC236}">
                <a16:creationId xmlns:a16="http://schemas.microsoft.com/office/drawing/2014/main" id="{33111680-0EDA-4666-A2F4-15F3BD6520DF}"/>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Stability</a:t>
            </a:r>
          </a:p>
        </p:txBody>
      </p:sp>
      <p:sp>
        <p:nvSpPr>
          <p:cNvPr id="6" name="manuscript">
            <a:extLst xmlns:a="http://schemas.openxmlformats.org/drawingml/2006/main">
              <a:ext uri="{FF2B5EF4-FFF2-40B4-BE49-F238E27FC236}">
                <a16:creationId xmlns:a16="http://schemas.microsoft.com/office/drawing/2014/main" id="{4813A338-7A97-4FD3-BF31-208D84148B82}"/>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For the nonlinear continuous-time system below, the authors correctly compute the linearization at the origin as dx/dt = −x. They conclude that every initial state converges to zero. This global asymptotic-stability claim is the paper's sole result. The paper places no restriction on x(0) and explicitly includes x(0) = 2 among the claimed cases.</a:t>
            </a:r>
          </a:p>
        </p:txBody>
      </p:sp>
      <p:sp>
        <p:nvSpPr>
          <p:cNvPr id="7" name="equation">
            <a:extLst xmlns:a="http://schemas.openxmlformats.org/drawingml/2006/main">
              <a:ext uri="{FF2B5EF4-FFF2-40B4-BE49-F238E27FC236}">
                <a16:creationId xmlns:a16="http://schemas.microsoft.com/office/drawing/2014/main" id="{031C4E3B-32B4-4829-88B9-EBD63C0ED4F2}"/>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dx/dt = −x + x³</a:t>
            </a:r>
          </a:p>
        </p:txBody>
      </p:sp>
      <p:sp>
        <p:nvSpPr>
          <p:cNvPr id="8" name="prompt">
            <a:extLst xmlns:a="http://schemas.openxmlformats.org/drawingml/2006/main">
              <a:ext uri="{FF2B5EF4-FFF2-40B4-BE49-F238E27FC236}">
                <a16:creationId xmlns:a16="http://schemas.microsoft.com/office/drawing/2014/main" id="{119532D4-8C81-4D0C-B147-F418C754F2F6}"/>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6882658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839B79E2-5FDA-42C8-A5F6-D73459CFE3DB}"/>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C2CBC690-8653-4854-BBF6-C65EDE726256}"/>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M22  /  ANSWER</a:t>
            </a:r>
          </a:p>
        </p:txBody>
      </p:sp>
      <p:sp>
        <p:nvSpPr>
          <p:cNvPr id="3" name="title">
            <a:extLst xmlns:a="http://schemas.openxmlformats.org/drawingml/2006/main">
              <a:ext uri="{FF2B5EF4-FFF2-40B4-BE49-F238E27FC236}">
                <a16:creationId xmlns:a16="http://schemas.microsoft.com/office/drawing/2014/main" id="{AF8D25E0-D235-4130-9F85-892EE1EED726}"/>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Beyond the Linearization</a:t>
            </a:r>
          </a:p>
        </p:txBody>
      </p:sp>
      <p:sp>
        <p:nvSpPr>
          <p:cNvPr id="4" name="verdict">
            <a:extLst xmlns:a="http://schemas.openxmlformats.org/drawingml/2006/main">
              <a:ext uri="{FF2B5EF4-FFF2-40B4-BE49-F238E27FC236}">
                <a16:creationId xmlns:a16="http://schemas.microsoft.com/office/drawing/2014/main" id="{FD51E4E3-CD01-4B5F-A2EB-2B586BC6DFF4}"/>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E2730"/>
                </a:solidFill>
                <a:latin typeface="DejaVu Sans"/>
                <a:ea typeface="DejaVu Sans"/>
                <a:cs typeface="DejaVu Sans"/>
              </a:defRPr>
            </a:pPr>
            <a:r>
              <a:rPr sz="2250" b="1">
                <a:solidFill>
                  <a:srgbClr val="9E2730"/>
                </a:solidFill>
                <a:latin typeface="DejaVu Sans"/>
                <a:ea typeface="DejaVu Sans"/>
                <a:cs typeface="DejaVu Sans"/>
              </a:rPr>
              <a:t>REJECT</a:t>
            </a:r>
          </a:p>
        </p:txBody>
      </p:sp>
      <p:sp>
        <p:nvSpPr>
          <p:cNvPr id="5" name="reason-label">
            <a:extLst xmlns:a="http://schemas.openxmlformats.org/drawingml/2006/main">
              <a:ext uri="{FF2B5EF4-FFF2-40B4-BE49-F238E27FC236}">
                <a16:creationId xmlns:a16="http://schemas.microsoft.com/office/drawing/2014/main" id="{F8BCC85A-7C61-4367-89E4-8C128656E151}"/>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1E6852D8-B50D-4B08-8921-3C4DBA4DECB5}"/>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  /  Stability/Performance</a:t>
            </a:r>
          </a:p>
        </p:txBody>
      </p:sp>
      <p:sp>
        <p:nvSpPr>
          <p:cNvPr id="7" name="explanation">
            <a:extLst xmlns:a="http://schemas.openxmlformats.org/drawingml/2006/main">
              <a:ext uri="{FF2B5EF4-FFF2-40B4-BE49-F238E27FC236}">
                <a16:creationId xmlns:a16="http://schemas.microsoft.com/office/drawing/2014/main" id="{E7A3F0A4-ACE2-4662-9E4F-4147DED00F0E}"/>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stable linearization supports local behavior near zero, not this global claim. For x &gt; 1, x³ − x &gt; 0, so the trajectory starting at 2 moves away from zero. Also, x = 1 and x = −1 are nonzero equilibria.</a:t>
            </a:r>
          </a:p>
        </p:txBody>
      </p:sp>
      <p:sp>
        <p:nvSpPr>
          <p:cNvPr id="8" name="repair-label">
            <a:extLst xmlns:a="http://schemas.openxmlformats.org/drawingml/2006/main">
              <a:ext uri="{FF2B5EF4-FFF2-40B4-BE49-F238E27FC236}">
                <a16:creationId xmlns:a16="http://schemas.microsoft.com/office/drawing/2014/main" id="{0D30CBDA-A936-4400-BEB1-FB44A6C743CC}"/>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FUNDAMENTAL FLAW</a:t>
            </a:r>
          </a:p>
        </p:txBody>
      </p:sp>
      <p:sp>
        <p:nvSpPr>
          <p:cNvPr id="9" name="repair">
            <a:extLst xmlns:a="http://schemas.openxmlformats.org/drawingml/2006/main">
              <a:ext uri="{FF2B5EF4-FFF2-40B4-BE49-F238E27FC236}">
                <a16:creationId xmlns:a16="http://schemas.microsoft.com/office/drawing/2014/main" id="{CB5A3A54-5547-4B55-A20E-D54BABCE9C70}"/>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Replacing the sole global result with a local result materially changes the contribution. The original universal claim is directly false.</a:t>
            </a:r>
          </a:p>
        </p:txBody>
      </p:sp>
      <p:sp>
        <p:nvSpPr>
          <p:cNvPr id="10" name="discussion">
            <a:extLst xmlns:a="http://schemas.openxmlformats.org/drawingml/2006/main">
              <a:ext uri="{FF2B5EF4-FFF2-40B4-BE49-F238E27FC236}">
                <a16:creationId xmlns:a16="http://schemas.microsoft.com/office/drawing/2014/main" id="{21D613B8-CD93-487D-8034-6B5C68EAED67}"/>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What interval of initial states actually converges to zero?</a:t>
            </a:r>
          </a:p>
        </p:txBody>
      </p:sp>
    </p:spTree>
    <p:extLst>
      <p:ext uri="{BB962C8B-B14F-4D97-AF65-F5344CB8AC3E}">
        <p14:creationId xmlns:p14="http://schemas.microsoft.com/office/powerpoint/2010/main" val="102368918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4B2760D4-FCFE-41FF-BE28-9C5FF1576807}"/>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F455B683-7218-49E0-9573-33DF3A39D33A}"/>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M23  /  ADVANCED</a:t>
            </a:r>
          </a:p>
        </p:txBody>
      </p:sp>
      <p:sp>
        <p:nvSpPr>
          <p:cNvPr id="3" name="title">
            <a:extLst xmlns:a="http://schemas.openxmlformats.org/drawingml/2006/main">
              <a:ext uri="{FF2B5EF4-FFF2-40B4-BE49-F238E27FC236}">
                <a16:creationId xmlns:a16="http://schemas.microsoft.com/office/drawing/2014/main" id="{1982135C-F245-424A-8C27-7E9A2E961BE8}"/>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Stability Under Scheduling</a:t>
            </a:r>
          </a:p>
        </p:txBody>
      </p:sp>
      <p:sp>
        <p:nvSpPr>
          <p:cNvPr id="4" name="authors">
            <a:extLst xmlns:a="http://schemas.openxmlformats.org/drawingml/2006/main">
              <a:ext uri="{FF2B5EF4-FFF2-40B4-BE49-F238E27FC236}">
                <a16:creationId xmlns:a16="http://schemas.microsoft.com/office/drawing/2014/main" id="{12AE0E34-E0D8-4E60-81CB-0AF2E3FE2659}"/>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Mira Chen, Tess Gray</a:t>
            </a:r>
          </a:p>
        </p:txBody>
      </p:sp>
      <p:sp>
        <p:nvSpPr>
          <p:cNvPr id="5" name="expertise">
            <a:extLst xmlns:a="http://schemas.openxmlformats.org/drawingml/2006/main">
              <a:ext uri="{FF2B5EF4-FFF2-40B4-BE49-F238E27FC236}">
                <a16:creationId xmlns:a16="http://schemas.microsoft.com/office/drawing/2014/main" id="{2FA3130C-C707-4EBA-929B-DE03DCE08CB5}"/>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Stability</a:t>
            </a:r>
          </a:p>
        </p:txBody>
      </p:sp>
      <p:sp>
        <p:nvSpPr>
          <p:cNvPr id="6" name="manuscript">
            <a:extLst xmlns:a="http://schemas.openxmlformats.org/drawingml/2006/main">
              <a:ext uri="{FF2B5EF4-FFF2-40B4-BE49-F238E27FC236}">
                <a16:creationId xmlns:a16="http://schemas.microsoft.com/office/drawing/2014/main" id="{28B91E3C-2715-4C44-A3CD-596D62F5FE6C}"/>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A study models dx/dt = −a(t)x, with piecewise-continuous a(t) in [0.5, 2]. It claims uniform exponential decay and compares scheduled decay trajectories. Its proof gives x(t) = exp(−at)x(0) for constant a, then uses this expression for varying a(t). The trajectory study itself allows varying schedules. The model and bounds above are explicit.</a:t>
            </a:r>
          </a:p>
        </p:txBody>
      </p:sp>
      <p:sp>
        <p:nvSpPr>
          <p:cNvPr id="7" name="equation">
            <a:extLst xmlns:a="http://schemas.openxmlformats.org/drawingml/2006/main">
              <a:ext uri="{FF2B5EF4-FFF2-40B4-BE49-F238E27FC236}">
                <a16:creationId xmlns:a16="http://schemas.microsoft.com/office/drawing/2014/main" id="{9AAE8BCD-DE37-4CCD-BC97-233351F5C9B0}"/>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dx/dt = −a(t)x,     0.5 ≤ a(t) ≤ 2</a:t>
            </a:r>
          </a:p>
        </p:txBody>
      </p:sp>
      <p:sp>
        <p:nvSpPr>
          <p:cNvPr id="8" name="prompt">
            <a:extLst xmlns:a="http://schemas.openxmlformats.org/drawingml/2006/main">
              <a:ext uri="{FF2B5EF4-FFF2-40B4-BE49-F238E27FC236}">
                <a16:creationId xmlns:a16="http://schemas.microsoft.com/office/drawing/2014/main" id="{CA82A16D-089D-47D8-BB33-A59689CEBE3D}"/>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87560831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39F8F29A-385F-44DC-BF98-3FDA20DC8F25}"/>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AE6B9A5A-257A-4EA0-B7F6-4B8299895C0E}"/>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M23  /  ANSWER</a:t>
            </a:r>
          </a:p>
        </p:txBody>
      </p:sp>
      <p:sp>
        <p:nvSpPr>
          <p:cNvPr id="3" name="title">
            <a:extLst xmlns:a="http://schemas.openxmlformats.org/drawingml/2006/main">
              <a:ext uri="{FF2B5EF4-FFF2-40B4-BE49-F238E27FC236}">
                <a16:creationId xmlns:a16="http://schemas.microsoft.com/office/drawing/2014/main" id="{9AF76D6F-58F3-4D11-A936-013C7EEAC172}"/>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Stability Under Scheduling</a:t>
            </a:r>
          </a:p>
        </p:txBody>
      </p:sp>
      <p:sp>
        <p:nvSpPr>
          <p:cNvPr id="4" name="verdict">
            <a:extLst xmlns:a="http://schemas.openxmlformats.org/drawingml/2006/main">
              <a:ext uri="{FF2B5EF4-FFF2-40B4-BE49-F238E27FC236}">
                <a16:creationId xmlns:a16="http://schemas.microsoft.com/office/drawing/2014/main" id="{711F8B08-E88B-4A5A-9E16-E0B781B847B7}"/>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925C00"/>
                </a:solidFill>
                <a:latin typeface="DejaVu Sans"/>
                <a:ea typeface="DejaVu Sans"/>
                <a:cs typeface="DejaVu Sans"/>
              </a:defRPr>
            </a:pPr>
            <a:r>
              <a:rPr sz="2250" b="1">
                <a:solidFill>
                  <a:srgbClr val="925C00"/>
                </a:solidFill>
                <a:latin typeface="DejaVu Sans"/>
                <a:ea typeface="DejaVu Sans"/>
                <a:cs typeface="DejaVu Sans"/>
              </a:rPr>
              <a:t>REVISE</a:t>
            </a:r>
          </a:p>
        </p:txBody>
      </p:sp>
      <p:sp>
        <p:nvSpPr>
          <p:cNvPr id="5" name="reason-label">
            <a:extLst xmlns:a="http://schemas.openxmlformats.org/drawingml/2006/main">
              <a:ext uri="{FF2B5EF4-FFF2-40B4-BE49-F238E27FC236}">
                <a16:creationId xmlns:a16="http://schemas.microsoft.com/office/drawing/2014/main" id="{1BB537C5-B07F-4040-97D0-F12DFD25BE4B}"/>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B135CEE9-D4A4-4E88-9C44-360C3B0CE651}"/>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  /  Model/Assumptions</a:t>
            </a:r>
          </a:p>
        </p:txBody>
      </p:sp>
      <p:sp>
        <p:nvSpPr>
          <p:cNvPr id="7" name="explanation">
            <a:extLst xmlns:a="http://schemas.openxmlformats.org/drawingml/2006/main">
              <a:ext uri="{FF2B5EF4-FFF2-40B4-BE49-F238E27FC236}">
                <a16:creationId xmlns:a16="http://schemas.microsoft.com/office/drawing/2014/main" id="{197A7107-67FF-42F8-9977-FE82E4E30081}"/>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displayed constant-coefficient solution is not the solution for a general schedule. However, the claimed bound is repairable: x(t) = exp(−∫₀ᵗ a(s)ds)x(0), so |x(t)| ≤ exp(−0.5t)|x(0)|. The stated assumptions already suffice.</a:t>
            </a:r>
          </a:p>
        </p:txBody>
      </p:sp>
      <p:sp>
        <p:nvSpPr>
          <p:cNvPr id="8" name="repair-label">
            <a:extLst xmlns:a="http://schemas.openxmlformats.org/drawingml/2006/main">
              <a:ext uri="{FF2B5EF4-FFF2-40B4-BE49-F238E27FC236}">
                <a16:creationId xmlns:a16="http://schemas.microsoft.com/office/drawing/2014/main" id="{D9CDC01E-A4F1-4C1D-BE85-BB604BA753AE}"/>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REPAIR</a:t>
            </a:r>
          </a:p>
        </p:txBody>
      </p:sp>
      <p:sp>
        <p:nvSpPr>
          <p:cNvPr id="9" name="repair">
            <a:extLst xmlns:a="http://schemas.openxmlformats.org/drawingml/2006/main">
              <a:ext uri="{FF2B5EF4-FFF2-40B4-BE49-F238E27FC236}">
                <a16:creationId xmlns:a16="http://schemas.microsoft.com/office/drawing/2014/main" id="{0D33C9D7-1A07-4D81-9E12-48468614E2E5}"/>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Replace the constant-a argument with the integral solution or a uniform Lyapunov bound. The decay claim and scheduling study can remain.</a:t>
            </a:r>
          </a:p>
        </p:txBody>
      </p:sp>
      <p:sp>
        <p:nvSpPr>
          <p:cNvPr id="10" name="discussion">
            <a:extLst xmlns:a="http://schemas.openxmlformats.org/drawingml/2006/main">
              <a:ext uri="{FF2B5EF4-FFF2-40B4-BE49-F238E27FC236}">
                <a16:creationId xmlns:a16="http://schemas.microsoft.com/office/drawing/2014/main" id="{9E69C88D-14B0-4E18-B933-F492BCB8F7D8}"/>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Why is the lower bound on a(t) useful for a uniform decay rate?</a:t>
            </a:r>
          </a:p>
        </p:txBody>
      </p:sp>
    </p:spTree>
    <p:extLst>
      <p:ext uri="{BB962C8B-B14F-4D97-AF65-F5344CB8AC3E}">
        <p14:creationId xmlns:p14="http://schemas.microsoft.com/office/powerpoint/2010/main" val="151923764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ame">
            <a:extLst xmlns:a="http://schemas.openxmlformats.org/drawingml/2006/main">
              <a:ext uri="{FF2B5EF4-FFF2-40B4-BE49-F238E27FC236}">
                <a16:creationId xmlns:a16="http://schemas.microsoft.com/office/drawing/2014/main" id="{A3996C62-D78F-4A4F-887C-DF56ED8CE966}"/>
              </a:ext>
            </a:extLst>
          </p:cNvPr>
          <p:cNvSpPr>
            <a:spLocks xmlns:a="http://schemas.openxmlformats.org/drawingml/2006/main" noGrp="1"/>
          </p:cNvSpPr>
          <p:nvPr/>
        </p:nvSpPr>
        <p:spPr>
          <a:xfrm xmlns:a="http://schemas.openxmlformats.org/drawingml/2006/main">
            <a:off x="304800" y="190500"/>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9DCF223E-8858-470C-9B67-FA70ADC4F1F1}"/>
              </a:ext>
            </a:extLst>
          </p:cNvPr>
          <p:cNvSpPr>
            <a:spLocks xmlns:a="http://schemas.openxmlformats.org/drawingml/2006/main" noGrp="1"/>
          </p:cNvSpPr>
          <p:nvPr/>
        </p:nvSpPr>
        <p:spPr>
          <a:xfrm xmlns:a="http://schemas.openxmlformats.org/drawingml/2006/main">
            <a:off x="4048125" y="190500"/>
            <a:ext cx="2047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M24  /  ADVANCED</a:t>
            </a:r>
          </a:p>
        </p:txBody>
      </p:sp>
      <p:sp>
        <p:nvSpPr>
          <p:cNvPr id="3" name="title">
            <a:extLst xmlns:a="http://schemas.openxmlformats.org/drawingml/2006/main">
              <a:ext uri="{FF2B5EF4-FFF2-40B4-BE49-F238E27FC236}">
                <a16:creationId xmlns:a16="http://schemas.microsoft.com/office/drawing/2014/main" id="{CFC9DD6D-0751-4BE2-8761-570C4F35F791}"/>
              </a:ext>
            </a:extLst>
          </p:cNvPr>
          <p:cNvSpPr>
            <a:spLocks xmlns:a="http://schemas.openxmlformats.org/drawingml/2006/main" noGrp="1"/>
          </p:cNvSpPr>
          <p:nvPr/>
        </p:nvSpPr>
        <p:spPr>
          <a:xfrm xmlns:a="http://schemas.openxmlformats.org/drawingml/2006/main">
            <a:off x="304800" y="514350"/>
            <a:ext cx="5791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1">
                <a:solidFill>
                  <a:srgbClr val="16232A"/>
                </a:solidFill>
                <a:latin typeface="DejaVu Sans"/>
                <a:ea typeface="DejaVu Sans"/>
                <a:cs typeface="DejaVu Sans"/>
              </a:defRPr>
            </a:pPr>
            <a:r>
              <a:rPr sz="2025" b="1">
                <a:solidFill>
                  <a:srgbClr val="16232A"/>
                </a:solidFill>
                <a:latin typeface="DejaVu Sans"/>
                <a:ea typeface="DejaVu Sans"/>
                <a:cs typeface="DejaVu Sans"/>
              </a:rPr>
              <a:t>The Cost of Correction</a:t>
            </a:r>
          </a:p>
        </p:txBody>
      </p:sp>
      <p:sp>
        <p:nvSpPr>
          <p:cNvPr id="4" name="authors">
            <a:extLst xmlns:a="http://schemas.openxmlformats.org/drawingml/2006/main">
              <a:ext uri="{FF2B5EF4-FFF2-40B4-BE49-F238E27FC236}">
                <a16:creationId xmlns:a16="http://schemas.microsoft.com/office/drawing/2014/main" id="{CB7B264C-9A78-4C1B-893B-3624710869BD}"/>
              </a:ext>
            </a:extLst>
          </p:cNvPr>
          <p:cNvSpPr>
            <a:spLocks xmlns:a="http://schemas.openxmlformats.org/drawingml/2006/main" noGrp="1"/>
          </p:cNvSpPr>
          <p:nvPr/>
        </p:nvSpPr>
        <p:spPr>
          <a:xfrm xmlns:a="http://schemas.openxmlformats.org/drawingml/2006/main">
            <a:off x="304800" y="11144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5A6870"/>
                </a:solidFill>
                <a:latin typeface="DejaVu Sans"/>
                <a:ea typeface="DejaVu Sans"/>
                <a:cs typeface="DejaVu Sans"/>
              </a:defRPr>
            </a:pPr>
            <a:r>
              <a:rPr sz="1275" b="0">
                <a:solidFill>
                  <a:srgbClr val="5A6870"/>
                </a:solidFill>
                <a:latin typeface="DejaVu Sans"/>
                <a:ea typeface="DejaVu Sans"/>
                <a:cs typeface="DejaVu Sans"/>
              </a:rPr>
              <a:t>Ari Dunn, Mira Chen</a:t>
            </a:r>
          </a:p>
        </p:txBody>
      </p:sp>
      <p:sp>
        <p:nvSpPr>
          <p:cNvPr id="5" name="expertise">
            <a:extLst xmlns:a="http://schemas.openxmlformats.org/drawingml/2006/main">
              <a:ext uri="{FF2B5EF4-FFF2-40B4-BE49-F238E27FC236}">
                <a16:creationId xmlns:a16="http://schemas.microsoft.com/office/drawing/2014/main" id="{C027C3DC-F409-48B8-87C5-81369D72D7FB}"/>
              </a:ext>
            </a:extLst>
          </p:cNvPr>
          <p:cNvSpPr>
            <a:spLocks xmlns:a="http://schemas.openxmlformats.org/drawingml/2006/main" noGrp="1"/>
          </p:cNvSpPr>
          <p:nvPr/>
        </p:nvSpPr>
        <p:spPr>
          <a:xfrm xmlns:a="http://schemas.openxmlformats.org/drawingml/2006/main">
            <a:off x="304800" y="1457325"/>
            <a:ext cx="5791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1">
                <a:solidFill>
                  <a:srgbClr val="16232A"/>
                </a:solidFill>
                <a:latin typeface="DejaVu Sans"/>
                <a:ea typeface="DejaVu Sans"/>
                <a:cs typeface="DejaVu Sans"/>
              </a:defRPr>
            </a:pPr>
            <a:r>
              <a:rPr sz="1275" b="1">
                <a:solidFill>
                  <a:srgbClr val="16232A"/>
                </a:solidFill>
                <a:latin typeface="DejaVu Sans"/>
                <a:ea typeface="DejaVu Sans"/>
                <a:cs typeface="DejaVu Sans"/>
              </a:rPr>
              <a:t>Primary expertise: Optimal Control</a:t>
            </a:r>
          </a:p>
        </p:txBody>
      </p:sp>
      <p:sp>
        <p:nvSpPr>
          <p:cNvPr id="6" name="manuscript">
            <a:extLst xmlns:a="http://schemas.openxmlformats.org/drawingml/2006/main">
              <a:ext uri="{FF2B5EF4-FFF2-40B4-BE49-F238E27FC236}">
                <a16:creationId xmlns:a16="http://schemas.microsoft.com/office/drawing/2014/main" id="{66752980-E160-4DE7-A2C8-A750B201B09A}"/>
              </a:ext>
            </a:extLst>
          </p:cNvPr>
          <p:cNvSpPr>
            <a:spLocks xmlns:a="http://schemas.openxmlformats.org/drawingml/2006/main" noGrp="1"/>
          </p:cNvSpPr>
          <p:nvPr/>
        </p:nvSpPr>
        <p:spPr>
          <a:xfrm xmlns:a="http://schemas.openxmlformats.org/drawingml/2006/main">
            <a:off x="304800" y="1866900"/>
            <a:ext cx="5791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463" b="0">
                <a:solidFill>
                  <a:srgbClr val="16232A"/>
                </a:solidFill>
                <a:latin typeface="DejaVu Sans"/>
                <a:ea typeface="DejaVu Sans"/>
                <a:cs typeface="DejaVu Sans"/>
              </a:defRPr>
            </a:pPr>
            <a:r>
              <a:rPr sz="1463" b="0">
                <a:solidFill>
                  <a:srgbClr val="16232A"/>
                </a:solidFill>
                <a:latin typeface="DejaVu Sans"/>
                <a:ea typeface="DejaVu Sans"/>
                <a:cs typeface="DejaVu Sans"/>
              </a:rPr>
              <a:t>The authors solve an unconstrained continuous-time LQR problem for dx/dt = −x + u with cost J = ∫₀∞(x² + u²)dt. They use P = √2 − 1 and u = −Px. Their derivation checks P² + 2P − 1 = 0 and obtains the stable closed-loop pole −√2. They claim this feedback minimizes the stated cost and gives J = Px(0)². The model has no noise or input bounds.</a:t>
            </a:r>
          </a:p>
        </p:txBody>
      </p:sp>
      <p:sp>
        <p:nvSpPr>
          <p:cNvPr id="7" name="equation">
            <a:extLst xmlns:a="http://schemas.openxmlformats.org/drawingml/2006/main">
              <a:ext uri="{FF2B5EF4-FFF2-40B4-BE49-F238E27FC236}">
                <a16:creationId xmlns:a16="http://schemas.microsoft.com/office/drawing/2014/main" id="{68E1E53A-7B58-4B79-BFFF-9D5CCB2FECE7}"/>
              </a:ext>
            </a:extLst>
          </p:cNvPr>
          <p:cNvSpPr>
            <a:spLocks xmlns:a="http://schemas.openxmlformats.org/drawingml/2006/main" noGrp="1"/>
          </p:cNvSpPr>
          <p:nvPr/>
        </p:nvSpPr>
        <p:spPr>
          <a:xfrm xmlns:a="http://schemas.openxmlformats.org/drawingml/2006/main">
            <a:off x="304800" y="3790950"/>
            <a:ext cx="579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P = √2 − 1     u = −Px     J = ∫₀∞(x² + u²)dt</a:t>
            </a:r>
          </a:p>
        </p:txBody>
      </p:sp>
      <p:sp>
        <p:nvSpPr>
          <p:cNvPr id="8" name="prompt">
            <a:extLst xmlns:a="http://schemas.openxmlformats.org/drawingml/2006/main">
              <a:ext uri="{FF2B5EF4-FFF2-40B4-BE49-F238E27FC236}">
                <a16:creationId xmlns:a16="http://schemas.microsoft.com/office/drawing/2014/main" id="{D15A7B02-81F9-4165-B588-8861F09162A3}"/>
              </a:ext>
            </a:extLst>
          </p:cNvPr>
          <p:cNvSpPr>
            <a:spLocks xmlns:a="http://schemas.openxmlformats.org/drawingml/2006/main" noGrp="1"/>
          </p:cNvSpPr>
          <p:nvPr/>
        </p:nvSpPr>
        <p:spPr>
          <a:xfrm xmlns:a="http://schemas.openxmlformats.org/drawingml/2006/main">
            <a:off x="304800" y="42862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0">
                <a:solidFill>
                  <a:srgbClr val="5A6870"/>
                </a:solidFill>
                <a:latin typeface="DejaVu Sans"/>
                <a:ea typeface="DejaVu Sans"/>
                <a:cs typeface="DejaVu Sans"/>
              </a:defRPr>
            </a:pPr>
            <a:r>
              <a:rPr sz="900" b="0">
                <a:solidFill>
                  <a:srgbClr val="5A6870"/>
                </a:solidFill>
                <a:latin typeface="DejaVu Sans"/>
                <a:ea typeface="DejaVu Sans"/>
                <a:cs typeface="DejaVu Sans"/>
              </a:rPr>
              <a:t>Choose a verdict and the main rationale.</a:t>
            </a:r>
          </a:p>
        </p:txBody>
      </p:sp>
    </p:spTree>
    <p:extLst>
      <p:ext uri="{BB962C8B-B14F-4D97-AF65-F5344CB8AC3E}">
        <p14:creationId xmlns:p14="http://schemas.microsoft.com/office/powerpoint/2010/main" val="180159353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ame">
            <a:extLst xmlns:a="http://schemas.openxmlformats.org/drawingml/2006/main">
              <a:ext uri="{FF2B5EF4-FFF2-40B4-BE49-F238E27FC236}">
                <a16:creationId xmlns:a16="http://schemas.microsoft.com/office/drawing/2014/main" id="{7BEEF840-0786-4D58-A8BC-46BABF20245A}"/>
              </a:ext>
            </a:extLst>
          </p:cNvPr>
          <p:cNvSpPr>
            <a:spLocks xmlns:a="http://schemas.openxmlformats.org/drawingml/2006/main" noGrp="1"/>
          </p:cNvSpPr>
          <p:nvPr/>
        </p:nvSpPr>
        <p:spPr>
          <a:xfrm xmlns:a="http://schemas.openxmlformats.org/drawingml/2006/main">
            <a:off x="304800" y="1905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REVISE &amp; REJECT</a:t>
            </a:r>
          </a:p>
        </p:txBody>
      </p:sp>
      <p:sp>
        <p:nvSpPr>
          <p:cNvPr id="2" name="identifier">
            <a:extLst xmlns:a="http://schemas.openxmlformats.org/drawingml/2006/main">
              <a:ext uri="{FF2B5EF4-FFF2-40B4-BE49-F238E27FC236}">
                <a16:creationId xmlns:a16="http://schemas.microsoft.com/office/drawing/2014/main" id="{40D4D940-89D9-473C-B05D-38301AECB192}"/>
              </a:ext>
            </a:extLst>
          </p:cNvPr>
          <p:cNvSpPr>
            <a:spLocks xmlns:a="http://schemas.openxmlformats.org/drawingml/2006/main" noGrp="1"/>
          </p:cNvSpPr>
          <p:nvPr/>
        </p:nvSpPr>
        <p:spPr>
          <a:xfrm xmlns:a="http://schemas.openxmlformats.org/drawingml/2006/main">
            <a:off x="4333875" y="190500"/>
            <a:ext cx="1762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M24  /  ANSWER</a:t>
            </a:r>
          </a:p>
        </p:txBody>
      </p:sp>
      <p:sp>
        <p:nvSpPr>
          <p:cNvPr id="3" name="title">
            <a:extLst xmlns:a="http://schemas.openxmlformats.org/drawingml/2006/main">
              <a:ext uri="{FF2B5EF4-FFF2-40B4-BE49-F238E27FC236}">
                <a16:creationId xmlns:a16="http://schemas.microsoft.com/office/drawing/2014/main" id="{EECC04F2-A51C-4DED-8DA7-366D515988B0}"/>
              </a:ext>
            </a:extLst>
          </p:cNvPr>
          <p:cNvSpPr>
            <a:spLocks xmlns:a="http://schemas.openxmlformats.org/drawingml/2006/main" noGrp="1"/>
          </p:cNvSpPr>
          <p:nvPr/>
        </p:nvSpPr>
        <p:spPr>
          <a:xfrm xmlns:a="http://schemas.openxmlformats.org/drawingml/2006/main">
            <a:off x="304800" y="495300"/>
            <a:ext cx="579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1">
                <a:solidFill>
                  <a:srgbClr val="16232A"/>
                </a:solidFill>
                <a:latin typeface="DejaVu Sans"/>
                <a:ea typeface="DejaVu Sans"/>
                <a:cs typeface="DejaVu Sans"/>
              </a:defRPr>
            </a:pPr>
            <a:r>
              <a:rPr sz="1725" b="1">
                <a:solidFill>
                  <a:srgbClr val="16232A"/>
                </a:solidFill>
                <a:latin typeface="DejaVu Sans"/>
                <a:ea typeface="DejaVu Sans"/>
                <a:cs typeface="DejaVu Sans"/>
              </a:rPr>
              <a:t>The Cost of Correction</a:t>
            </a:r>
          </a:p>
        </p:txBody>
      </p:sp>
      <p:sp>
        <p:nvSpPr>
          <p:cNvPr id="4" name="verdict">
            <a:extLst xmlns:a="http://schemas.openxmlformats.org/drawingml/2006/main">
              <a:ext uri="{FF2B5EF4-FFF2-40B4-BE49-F238E27FC236}">
                <a16:creationId xmlns:a16="http://schemas.microsoft.com/office/drawing/2014/main" id="{0FE317D8-E43B-47DF-B762-CF87E9FED220}"/>
              </a:ext>
            </a:extLst>
          </p:cNvPr>
          <p:cNvSpPr>
            <a:spLocks xmlns:a="http://schemas.openxmlformats.org/drawingml/2006/main" noGrp="1"/>
          </p:cNvSpPr>
          <p:nvPr/>
        </p:nvSpPr>
        <p:spPr>
          <a:xfrm xmlns:a="http://schemas.openxmlformats.org/drawingml/2006/main">
            <a:off x="304800" y="1019175"/>
            <a:ext cx="5791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1">
                <a:solidFill>
                  <a:srgbClr val="176344"/>
                </a:solidFill>
                <a:latin typeface="DejaVu Sans"/>
                <a:ea typeface="DejaVu Sans"/>
                <a:cs typeface="DejaVu Sans"/>
              </a:defRPr>
            </a:pPr>
            <a:r>
              <a:rPr sz="2250" b="1">
                <a:solidFill>
                  <a:srgbClr val="176344"/>
                </a:solidFill>
                <a:latin typeface="DejaVu Sans"/>
                <a:ea typeface="DejaVu Sans"/>
                <a:cs typeface="DejaVu Sans"/>
              </a:rPr>
              <a:t>ACCEPT</a:t>
            </a:r>
          </a:p>
        </p:txBody>
      </p:sp>
      <p:sp>
        <p:nvSpPr>
          <p:cNvPr id="5" name="reason-label">
            <a:extLst xmlns:a="http://schemas.openxmlformats.org/drawingml/2006/main">
              <a:ext uri="{FF2B5EF4-FFF2-40B4-BE49-F238E27FC236}">
                <a16:creationId xmlns:a16="http://schemas.microsoft.com/office/drawing/2014/main" id="{8902698F-D212-4A92-B228-73209BD4D08B}"/>
              </a:ext>
            </a:extLst>
          </p:cNvPr>
          <p:cNvSpPr>
            <a:spLocks xmlns:a="http://schemas.openxmlformats.org/drawingml/2006/main" noGrp="1"/>
          </p:cNvSpPr>
          <p:nvPr/>
        </p:nvSpPr>
        <p:spPr>
          <a:xfrm xmlns:a="http://schemas.openxmlformats.org/drawingml/2006/main">
            <a:off x="304800" y="1495425"/>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ACCEPTED RATIONALE</a:t>
            </a:r>
          </a:p>
        </p:txBody>
      </p:sp>
      <p:sp>
        <p:nvSpPr>
          <p:cNvPr id="6" name="rationales">
            <a:extLst xmlns:a="http://schemas.openxmlformats.org/drawingml/2006/main">
              <a:ext uri="{FF2B5EF4-FFF2-40B4-BE49-F238E27FC236}">
                <a16:creationId xmlns:a16="http://schemas.microsoft.com/office/drawing/2014/main" id="{702BCB80-51C8-41B4-90DE-579823CCCC29}"/>
              </a:ext>
            </a:extLst>
          </p:cNvPr>
          <p:cNvSpPr>
            <a:spLocks xmlns:a="http://schemas.openxmlformats.org/drawingml/2006/main" noGrp="1"/>
          </p:cNvSpPr>
          <p:nvPr/>
        </p:nvSpPr>
        <p:spPr>
          <a:xfrm xmlns:a="http://schemas.openxmlformats.org/drawingml/2006/main">
            <a:off x="304800" y="1695450"/>
            <a:ext cx="5791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13" b="1">
                <a:solidFill>
                  <a:srgbClr val="16232A"/>
                </a:solidFill>
                <a:latin typeface="DejaVu Sans"/>
                <a:ea typeface="DejaVu Sans"/>
                <a:cs typeface="DejaVu Sans"/>
              </a:defRPr>
            </a:pPr>
            <a:r>
              <a:rPr sz="1313" b="1">
                <a:solidFill>
                  <a:srgbClr val="16232A"/>
                </a:solidFill>
                <a:latin typeface="DejaVu Sans"/>
                <a:ea typeface="DejaVu Sans"/>
                <a:cs typeface="DejaVu Sans"/>
              </a:rPr>
              <a:t>Math/Logic  /  Stability/Performance</a:t>
            </a:r>
          </a:p>
        </p:txBody>
      </p:sp>
      <p:sp>
        <p:nvSpPr>
          <p:cNvPr id="7" name="explanation">
            <a:extLst xmlns:a="http://schemas.openxmlformats.org/drawingml/2006/main">
              <a:ext uri="{FF2B5EF4-FFF2-40B4-BE49-F238E27FC236}">
                <a16:creationId xmlns:a16="http://schemas.microsoft.com/office/drawing/2014/main" id="{038C09B0-4779-4229-9CFF-66FDD601A848}"/>
              </a:ext>
            </a:extLst>
          </p:cNvPr>
          <p:cNvSpPr>
            <a:spLocks xmlns:a="http://schemas.openxmlformats.org/drawingml/2006/main" noGrp="1"/>
          </p:cNvSpPr>
          <p:nvPr/>
        </p:nvSpPr>
        <p:spPr>
          <a:xfrm xmlns:a="http://schemas.openxmlformats.org/drawingml/2006/main">
            <a:off x="304800" y="2190750"/>
            <a:ext cx="5791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88" b="0">
                <a:solidFill>
                  <a:srgbClr val="16232A"/>
                </a:solidFill>
                <a:latin typeface="DejaVu Sans"/>
                <a:ea typeface="DejaVu Sans"/>
                <a:cs typeface="DejaVu Sans"/>
              </a:defRPr>
            </a:pPr>
            <a:r>
              <a:rPr sz="1388" b="0">
                <a:solidFill>
                  <a:srgbClr val="16232A"/>
                </a:solidFill>
                <a:latin typeface="DejaVu Sans"/>
                <a:ea typeface="DejaVu Sans"/>
                <a:cs typeface="DejaVu Sans"/>
              </a:rPr>
              <a:t>The scalar Riccati equation is 1 − 2P − P² = 0. Its positive stabilizing solution is √2 − 1, giving the pole −1 − P = −√2. The standard LQR result gives the optimal value Px(0)² for the stated unconstrained problem.</a:t>
            </a:r>
          </a:p>
        </p:txBody>
      </p:sp>
      <p:sp>
        <p:nvSpPr>
          <p:cNvPr id="8" name="repair-label">
            <a:extLst xmlns:a="http://schemas.openxmlformats.org/drawingml/2006/main">
              <a:ext uri="{FF2B5EF4-FFF2-40B4-BE49-F238E27FC236}">
                <a16:creationId xmlns:a16="http://schemas.microsoft.com/office/drawing/2014/main" id="{36C71DC0-3ED0-4477-A404-66D4C3198CEE}"/>
              </a:ext>
            </a:extLst>
          </p:cNvPr>
          <p:cNvSpPr>
            <a:spLocks xmlns:a="http://schemas.openxmlformats.org/drawingml/2006/main" noGrp="1"/>
          </p:cNvSpPr>
          <p:nvPr/>
        </p:nvSpPr>
        <p:spPr>
          <a:xfrm xmlns:a="http://schemas.openxmlformats.org/drawingml/2006/main">
            <a:off x="304800" y="3409950"/>
            <a:ext cx="5791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900" b="1">
                <a:solidFill>
                  <a:srgbClr val="5A6870"/>
                </a:solidFill>
                <a:latin typeface="DejaVu Sans"/>
                <a:ea typeface="DejaVu Sans"/>
                <a:cs typeface="DejaVu Sans"/>
              </a:defRPr>
            </a:pPr>
            <a:r>
              <a:rPr sz="900" b="1">
                <a:solidFill>
                  <a:srgbClr val="5A6870"/>
                </a:solidFill>
                <a:latin typeface="DejaVu Sans"/>
                <a:ea typeface="DejaVu Sans"/>
                <a:cs typeface="DejaVu Sans"/>
              </a:rPr>
              <a:t>BASIS FOR ACCEPTANCE</a:t>
            </a:r>
          </a:p>
        </p:txBody>
      </p:sp>
      <p:sp>
        <p:nvSpPr>
          <p:cNvPr id="9" name="repair">
            <a:extLst xmlns:a="http://schemas.openxmlformats.org/drawingml/2006/main">
              <a:ext uri="{FF2B5EF4-FFF2-40B4-BE49-F238E27FC236}">
                <a16:creationId xmlns:a16="http://schemas.microsoft.com/office/drawing/2014/main" id="{427B914D-39A6-4D49-8FF0-0C7866A35A54}"/>
              </a:ext>
            </a:extLst>
          </p:cNvPr>
          <p:cNvSpPr>
            <a:spLocks xmlns:a="http://schemas.openxmlformats.org/drawingml/2006/main" noGrp="1"/>
          </p:cNvSpPr>
          <p:nvPr/>
        </p:nvSpPr>
        <p:spPr>
          <a:xfrm xmlns:a="http://schemas.openxmlformats.org/drawingml/2006/main">
            <a:off x="304800" y="3619500"/>
            <a:ext cx="5791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275" b="0">
                <a:solidFill>
                  <a:srgbClr val="16232A"/>
                </a:solidFill>
                <a:latin typeface="DejaVu Sans"/>
                <a:ea typeface="DejaVu Sans"/>
                <a:cs typeface="DejaVu Sans"/>
              </a:defRPr>
            </a:pPr>
            <a:r>
              <a:rPr sz="1275" b="0">
                <a:solidFill>
                  <a:srgbClr val="16232A"/>
                </a:solidFill>
                <a:latin typeface="DejaVu Sans"/>
                <a:ea typeface="DejaVu Sans"/>
                <a:cs typeface="DejaVu Sans"/>
              </a:rPr>
              <a:t>The gain, Riccati check, closed-loop stability, and cost claim agree under the supplied assumptions.</a:t>
            </a:r>
          </a:p>
        </p:txBody>
      </p:sp>
      <p:sp>
        <p:nvSpPr>
          <p:cNvPr id="10" name="discussion">
            <a:extLst xmlns:a="http://schemas.openxmlformats.org/drawingml/2006/main">
              <a:ext uri="{FF2B5EF4-FFF2-40B4-BE49-F238E27FC236}">
                <a16:creationId xmlns:a16="http://schemas.microsoft.com/office/drawing/2014/main" id="{DD09B09F-8430-4163-BDD6-ADD179769818}"/>
              </a:ext>
            </a:extLst>
          </p:cNvPr>
          <p:cNvSpPr>
            <a:spLocks xmlns:a="http://schemas.openxmlformats.org/drawingml/2006/main" noGrp="1"/>
          </p:cNvSpPr>
          <p:nvPr/>
        </p:nvSpPr>
        <p:spPr>
          <a:xfrm xmlns:a="http://schemas.openxmlformats.org/drawingml/2006/main">
            <a:off x="304800" y="4248150"/>
            <a:ext cx="5791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863" b="0">
                <a:solidFill>
                  <a:srgbClr val="5A6870"/>
                </a:solidFill>
                <a:latin typeface="DejaVu Sans"/>
                <a:ea typeface="DejaVu Sans"/>
                <a:cs typeface="DejaVu Sans"/>
              </a:defRPr>
            </a:pPr>
            <a:r>
              <a:rPr sz="863" b="0">
                <a:solidFill>
                  <a:srgbClr val="5A6870"/>
                </a:solidFill>
                <a:latin typeface="DejaVu Sans"/>
                <a:ea typeface="DejaVu Sans"/>
                <a:cs typeface="DejaVu Sans"/>
              </a:rPr>
              <a:t>Discuss: What would need reassessment if the actuator imposed |u| ≤ 1?</a:t>
            </a:r>
          </a:p>
        </p:txBody>
      </p:sp>
    </p:spTree>
    <p:extLst>
      <p:ext uri="{BB962C8B-B14F-4D97-AF65-F5344CB8AC3E}">
        <p14:creationId xmlns:p14="http://schemas.microsoft.com/office/powerpoint/2010/main" val="12598735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2026-10-07T01:58:08.3300000Z</dcterms:created>
  <dcterms:modified xsi:type="dcterms:W3CDTF">2026-10-07T01:58:08.3300000Z</dcterms:modified>
</coreProperties>
</file>